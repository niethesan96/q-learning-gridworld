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0d1bd55b6e94a78" /><Relationship Type="http://schemas.openxmlformats.org/officeDocument/2006/relationships/extended-properties" Target="/docProps/app.xml" Id="R2627af3c27be412a" /><Relationship Type="http://schemas.openxmlformats.org/officeDocument/2006/relationships/officeDocument" Target="/ppt/presentation.xml" Id="Rcbaf0efeccfe4ded" /></Relationships>
</file>

<file path=ppt/presentation.xml><?xml version="1.0" encoding="utf-8"?>
<p:presentation xmlns:p="http://schemas.openxmlformats.org/presentationml/2006/main">
  <p:sldMasterIdLst>
    <p:sldMasterId xmlns:r="http://schemas.openxmlformats.org/officeDocument/2006/relationships" id="2147483648" r:id="R1cf59129ad5e49a5"/>
  </p:sldMasterIdLst>
  <p:notesMasterIdLst>
    <p:notesMasterId xmlns:r="http://schemas.openxmlformats.org/officeDocument/2006/relationships" r:id="R7ca4d7a58aa845c1"/>
  </p:notesMasterIdLst>
  <p:sldIdLst>
    <p:sldId xmlns:r="http://schemas.openxmlformats.org/officeDocument/2006/relationships" id="256" r:id="R56ab6f7f482a4b56"/>
    <p:sldId xmlns:r="http://schemas.openxmlformats.org/officeDocument/2006/relationships" id="257" r:id="R0c47d720e3e74a1e"/>
    <p:sldId xmlns:r="http://schemas.openxmlformats.org/officeDocument/2006/relationships" id="258" r:id="R5545c1bc3ba04c0f"/>
    <p:sldId xmlns:r="http://schemas.openxmlformats.org/officeDocument/2006/relationships" id="259" r:id="Rc7dc202a3bb04714"/>
    <p:sldId xmlns:r="http://schemas.openxmlformats.org/officeDocument/2006/relationships" id="260" r:id="Rfc3024f31f6b4886"/>
    <p:sldId xmlns:r="http://schemas.openxmlformats.org/officeDocument/2006/relationships" id="261" r:id="R8a3cb41e6cc14577"/>
    <p:sldId xmlns:r="http://schemas.openxmlformats.org/officeDocument/2006/relationships" id="262" r:id="Ra2c2f7ed68174374"/>
    <p:sldId xmlns:r="http://schemas.openxmlformats.org/officeDocument/2006/relationships" id="263" r:id="R16e11d78d7ae4599"/>
    <p:sldId xmlns:r="http://schemas.openxmlformats.org/officeDocument/2006/relationships" id="264" r:id="R248228560b9648e0"/>
    <p:sldId xmlns:r="http://schemas.openxmlformats.org/officeDocument/2006/relationships" id="265" r:id="Rce00602624eb4698"/>
    <p:sldId xmlns:r="http://schemas.openxmlformats.org/officeDocument/2006/relationships" id="266" r:id="R504fdd7ecd204a12"/>
    <p:sldId xmlns:r="http://schemas.openxmlformats.org/officeDocument/2006/relationships" id="267" r:id="R17886a354c95427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84dda4f25764d47" /><Relationship Type="http://schemas.openxmlformats.org/officeDocument/2006/relationships/slideMaster" Target="/ppt/slideMasters/slideMaster1.xml" Id="R1cf59129ad5e49a5" /><Relationship Type="http://schemas.openxmlformats.org/officeDocument/2006/relationships/notesMaster" Target="/ppt/notesMasters/notesMaster1.xml" Id="R7ca4d7a58aa845c1" /><Relationship Type="http://schemas.openxmlformats.org/officeDocument/2006/relationships/presProps" Target="/ppt/presProps.xml" Id="R497f437735f1403b" /><Relationship Type="http://schemas.openxmlformats.org/officeDocument/2006/relationships/tableStyles" Target="/ppt/tableStyles.xml" Id="R93750156e44645b1" /><Relationship Type="http://schemas.openxmlformats.org/officeDocument/2006/relationships/slide" Target="/ppt/slides/slide1.xml" Id="R56ab6f7f482a4b56" /><Relationship Type="http://schemas.openxmlformats.org/officeDocument/2006/relationships/slide" Target="/ppt/slides/slide2.xml" Id="R0c47d720e3e74a1e" /><Relationship Type="http://schemas.openxmlformats.org/officeDocument/2006/relationships/slide" Target="/ppt/slides/slide3.xml" Id="R5545c1bc3ba04c0f" /><Relationship Type="http://schemas.openxmlformats.org/officeDocument/2006/relationships/slide" Target="/ppt/slides/slide4.xml" Id="Rc7dc202a3bb04714" /><Relationship Type="http://schemas.openxmlformats.org/officeDocument/2006/relationships/slide" Target="/ppt/slides/slide5.xml" Id="Rfc3024f31f6b4886" /><Relationship Type="http://schemas.openxmlformats.org/officeDocument/2006/relationships/slide" Target="/ppt/slides/slide6.xml" Id="R8a3cb41e6cc14577" /><Relationship Type="http://schemas.openxmlformats.org/officeDocument/2006/relationships/slide" Target="/ppt/slides/slide7.xml" Id="Ra2c2f7ed68174374" /><Relationship Type="http://schemas.openxmlformats.org/officeDocument/2006/relationships/slide" Target="/ppt/slides/slide8.xml" Id="R16e11d78d7ae4599" /><Relationship Type="http://schemas.openxmlformats.org/officeDocument/2006/relationships/slide" Target="/ppt/slides/slide9.xml" Id="R248228560b9648e0" /><Relationship Type="http://schemas.openxmlformats.org/officeDocument/2006/relationships/slide" Target="/ppt/slides/slide10.xml" Id="Rce00602624eb4698" /><Relationship Type="http://schemas.openxmlformats.org/officeDocument/2006/relationships/slide" Target="/ppt/slides/slide11.xml" Id="R504fdd7ecd204a12" /><Relationship Type="http://schemas.openxmlformats.org/officeDocument/2006/relationships/slide" Target="/ppt/slides/slide12.xml" Id="R17886a354c9542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46281dacb0842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8deb9c4f50b4177" /><Relationship Type="http://schemas.openxmlformats.org/officeDocument/2006/relationships/notesMaster" Target="/ppt/notesMasters/notesMaster1.xml" Id="Re91ef38f193442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e1a39caf164914" /><Relationship Type="http://schemas.openxmlformats.org/officeDocument/2006/relationships/notesMaster" Target="/ppt/notesMasters/notesMaster1.xml" Id="Rf070d745b1b44897" /></Relationships>
</file>

<file path=ppt/notesSlides/_rels/notesSlide3.xml.rels>&#65279;<?xml version="1.0" encoding="utf-8"?><Relationships xmlns="http://schemas.openxmlformats.org/package/2006/relationships"><Relationship Type="http://schemas.openxmlformats.org/officeDocument/2006/relationships/slide" Target="/ppt/slides/slide3.xml" Id="Rb58b07356b8f4cc3" /><Relationship Type="http://schemas.openxmlformats.org/officeDocument/2006/relationships/notesMaster" Target="/ppt/notesMasters/notesMaster1.xml" Id="R8a787b6b509041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06d0d9298a40c0" /><Relationship Type="http://schemas.openxmlformats.org/officeDocument/2006/relationships/notesMaster" Target="/ppt/notesMasters/notesMaster1.xml" Id="R185b14f706c844b5"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4ea54fe0cb45c2" /><Relationship Type="http://schemas.openxmlformats.org/officeDocument/2006/relationships/notesMaster" Target="/ppt/notesMasters/notesMaster1.xml" Id="R3f772637805e4a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48a060d31b54460a" /><Relationship Type="http://schemas.openxmlformats.org/officeDocument/2006/relationships/notesMaster" Target="/ppt/notesMasters/notesMaster1.xml" Id="R8dc7e53980b5453a"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b3ddddd28b45d6" /><Relationship Type="http://schemas.openxmlformats.org/officeDocument/2006/relationships/notesMaster" Target="/ppt/notesMasters/notesMaster1.xml" Id="R167ec3a827f146a5" /></Relationships>
</file>

<file path=ppt/notesSlides/_rels/notesSlide8.xml.rels>&#65279;<?xml version="1.0" encoding="utf-8"?><Relationships xmlns="http://schemas.openxmlformats.org/package/2006/relationships"><Relationship Type="http://schemas.openxmlformats.org/officeDocument/2006/relationships/slide" Target="/ppt/slides/slide8.xml" Id="R42914c13820047f2" /><Relationship Type="http://schemas.openxmlformats.org/officeDocument/2006/relationships/notesMaster" Target="/ppt/notesMasters/notesMaster1.xml" Id="R03358f2023a64735" /></Relationships>
</file>

<file path=ppt/notesSlides/_rels/notesSlide9.xml.rels>&#65279;<?xml version="1.0" encoding="utf-8"?><Relationships xmlns="http://schemas.openxmlformats.org/package/2006/relationships"><Relationship Type="http://schemas.openxmlformats.org/officeDocument/2006/relationships/slide" Target="/ppt/slides/slide9.xml" Id="R3b918818012a4aca" /><Relationship Type="http://schemas.openxmlformats.org/officeDocument/2006/relationships/notesMaster" Target="/ppt/notesMasters/notesMaster1.xml" Id="Race7358e8764497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c0e8f94a1ee48b5" /><Relationship Type="http://schemas.openxmlformats.org/officeDocument/2006/relationships/notesMaster" Target="/ppt/notesMasters/notesMaster1.xml" Id="Rb035cc631ec4416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cb57bf7b58a4650" /><Relationship Type="http://schemas.openxmlformats.org/officeDocument/2006/relationships/notesMaster" Target="/ppt/notesMasters/notesMaster1.xml" Id="R25d85dcf6c224a6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33651c72ad8457c" /><Relationship Type="http://schemas.openxmlformats.org/officeDocument/2006/relationships/notesMaster" Target="/ppt/notesMasters/notesMaster1.xml" Id="Radf18d61004f4d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a demonstration of reinforcement learning. The agent learns action values by trial and error. This presentation takes about 8 to 10 minutes. Source: gridworld.py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grid contains fixed walls and deterministic actions. The agent begins at S and receives rewards after each move. The goal is a successful short route without entering obstacles. Source: GridWorld in gridworld.py.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default map has 36 cells, including 8 blocked cells and 28 traversable states. Row and column indices begin at zero. S is at (0,0), G at (5,5). A collision leaves the agent in its current cell. Source: DEFAULT_MAP and GridWorld.step in gridworld.py.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Q(s,a) estimates discounted future reward after taking action a in state s. For nonterminal moves, combine the observed reward and best next-state value. At the goal, the target equals the reward. The time limit truncates the trajectory and does not remove bootstrapping. Source: update_q and train in gridworld.py.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Epsilon-greedy exploration initially chooses random actions frequently. Over episodes epsilon falls to a floor of 0.05, preserving some exploration. Random ties are seeded during training. The evaluation policy uses a deterministic tie order and no exploration. Source: train and greedy_action in gridworld.py.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loop: initialize a table with four zeros per traversable state, reset to S each episode, choose an epsilon-greedy action, step the environment, update the selected Q-value, and repeat until the goal or time limit. CSV history records episode-level observations. Source: train in gridworld.py.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project folder, run py gridworld.py, then py -m unittest -v. Open results/learned_path.svg in a browser. Explain that GridWorld handles movement, train learns the table, rollout evaluates it, and the CLI writes results. Source: project README and gridworld.py.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point is the mean total reward in a consecutive block of 100 training episodes, computed directly from training.csv. These are exploratory training rewards, not greedy evaluation scores. Negative early returns reflect long episodes and collisions. Source: results/training.csv, seed 42, 3000 episodes.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image is the saved route visualization from the executed project. The greedy evaluation uses no random exploration. The route contains 9 ordinary moves and one goal move, for a return of 9 times -1 plus 100 = 91. BFS independently finds the same path length, but does not supply actions to training. Source: results/summary.json and results/learned_path.svg.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Six unittest methods pass. The learning test trains three seeds: 0, 7, and 42. Each greedy policy reaches the goal in 10 valid adjacent moves. Reproducibility uses a separate small grid. All claims are limited to the tested deterministic maps and settings. Source: test_gridworld.py and executed unittest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docs/GITHUB_GUIDE.md for the complete Windows PowerShell instructions. Create an empty GitHub repository, initialize the local folder, commit, add origin, and push main. Complete authentication if prompted. Source: https://docs.github.com/en/migrations/importing-source-code/using-the-command-line-to-import-source-code/adding-locally-hosted-code-to-github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demonstrates tabular Q-learning on a small fixed environment. BFS supplies only a reachability and shortest-length baseline. Fixed learning rate and finite exploration do not prove convergence for every map. Future work could add larger maps, moving obstacles, or comparisons with SARSA. Finish by inviting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7ef3cc5ad3455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29580072a6c43d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633fa1383fa4a9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4acfbe63dd74e8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f0a708a988540a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711f033f54c4d2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D2EAFA-64AF-4C08-89F5-4E21141F38E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BFC4BB9-7A7C-409C-A8AA-E96AFBD8D53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229F420-EC2D-46E2-8042-27DA3D7D225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E73045-37DD-4A92-A1B3-D013B3D0A44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CDB2FE5-33DC-47DF-B2C8-3EDCD210178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79383BF-2B22-4BDE-939F-618E7C39E0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DFF88B5-F5CB-4C4D-8144-659E8794DA0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FE05A25-CA20-4F59-B228-5A90D2DBBC6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8003903-1945-47C5-A0F9-88EC73DA30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CC59A77-A4E0-4D61-88FD-0E23201AFCB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588dd8db164a26" /><Relationship Type="http://schemas.openxmlformats.org/officeDocument/2006/relationships/slideLayout" Target="/ppt/slideLayouts/slideLayout1.xml" Id="R38fe6143bdc949f8" /><Relationship Type="http://schemas.openxmlformats.org/officeDocument/2006/relationships/slideLayout" Target="/ppt/slideLayouts/slideLayout2.xml" Id="R25e65ee15cbe499e" /><Relationship Type="http://schemas.openxmlformats.org/officeDocument/2006/relationships/slideLayout" Target="/ppt/slideLayouts/slideLayout3.xml" Id="R9766db9512484da2" /><Relationship Type="http://schemas.openxmlformats.org/officeDocument/2006/relationships/slideLayout" Target="/ppt/slideLayouts/slideLayout4.xml" Id="Rc665e9df7ce048a8" /><Relationship Type="http://schemas.openxmlformats.org/officeDocument/2006/relationships/slideLayout" Target="/ppt/slideLayouts/slideLayout5.xml" Id="R919d6c74acbe495f" /><Relationship Type="http://schemas.openxmlformats.org/officeDocument/2006/relationships/slideLayout" Target="/ppt/slideLayouts/slideLayout6.xml" Id="R385a6bf0e73148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fe6143bdc949f8"/>
    <p:sldLayoutId xmlns:r="http://schemas.openxmlformats.org/officeDocument/2006/relationships" id="2147483650" r:id="R25e65ee15cbe499e"/>
    <p:sldLayoutId xmlns:r="http://schemas.openxmlformats.org/officeDocument/2006/relationships" id="2147483651" r:id="R9766db9512484da2"/>
    <p:sldLayoutId xmlns:r="http://schemas.openxmlformats.org/officeDocument/2006/relationships" id="2147483652" r:id="Rc665e9df7ce048a8"/>
    <p:sldLayoutId xmlns:r="http://schemas.openxmlformats.org/officeDocument/2006/relationships" id="2147483653" r:id="R919d6c74acbe495f"/>
    <p:sldLayoutId xmlns:r="http://schemas.openxmlformats.org/officeDocument/2006/relationships" id="2147483654" r:id="R385a6bf0e73148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304e338ec114506" /><Relationship Type="http://schemas.openxmlformats.org/officeDocument/2006/relationships/notesSlide" Target="/ppt/notesSlides/notesSlide1.xml" Id="R74625a681e82416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3f340fd4e4c4ef3" /><Relationship Type="http://schemas.openxmlformats.org/officeDocument/2006/relationships/notesSlide" Target="/ppt/notesSlides/notesSlide2.xml" Id="R3a3f0b01dd1846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9b3105a040e4063" /><Relationship Type="http://schemas.openxmlformats.org/officeDocument/2006/relationships/notesSlide" Target="/ppt/notesSlides/notesSlide3.xml" Id="R992eb8ef13114d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0434719f2914ace" /><Relationship Type="http://schemas.openxmlformats.org/officeDocument/2006/relationships/notesSlide" Target="/ppt/notesSlides/notesSlide4.xml" Id="R5e7f0e69c1bf41c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715bfd7504342b8" /><Relationship Type="http://schemas.openxmlformats.org/officeDocument/2006/relationships/notesSlide" Target="/ppt/notesSlides/notesSlide5.xml" Id="R844cf08b611945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f275653fea34ab7" /><Relationship Type="http://schemas.openxmlformats.org/officeDocument/2006/relationships/notesSlide" Target="/ppt/notesSlides/notesSlide6.xml" Id="R31ab680f833448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ad763a7307048cb" /><Relationship Type="http://schemas.openxmlformats.org/officeDocument/2006/relationships/notesSlide" Target="/ppt/notesSlides/notesSlide7.xml" Id="R73a83e69ef434e7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c1cd59ed53a4f71" /><Relationship Type="http://schemas.openxmlformats.org/officeDocument/2006/relationships/chart" Target="/ppt/slides/charts/chart1.xml" Id="R26e5853908d04589" /><Relationship Type="http://schemas.openxmlformats.org/officeDocument/2006/relationships/notesSlide" Target="/ppt/notesSlides/notesSlide8.xml" Id="Rbe18ba786e884bc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68335c5a548427e" /><Relationship Type="http://schemas.openxmlformats.org/officeDocument/2006/relationships/image" Target="/ppt/media/image.png" Id="R4f998db79bd24c54" /><Relationship Type="http://schemas.openxmlformats.org/officeDocument/2006/relationships/notesSlide" Target="/ppt/notesSlides/notesSlide9.xml" Id="Rbeb10e8620fe481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e06b61d0aa24226" /><Relationship Type="http://schemas.openxmlformats.org/officeDocument/2006/relationships/notesSlide" Target="/ppt/notesSlides/notesSlide10.xml" Id="R7d6df070495e4d2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a507918246b4251" /><Relationship Type="http://schemas.openxmlformats.org/officeDocument/2006/relationships/notesSlide" Target="/ppt/notesSlides/notesSlide11.xml" Id="R4fb114a83e224e0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102bc524d424bee" /><Relationship Type="http://schemas.openxmlformats.org/officeDocument/2006/relationships/notesSlide" Target="/ppt/notesSlides/notesSlide12.xml" Id="R942c52f9a50f49b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Mean reward</c:v>
          </c:tx>
          <c:spPr>
            <a:solidFill xmlns:a="http://schemas.openxmlformats.org/drawingml/2006/main">
              <a:srgbClr val="087F8C"/>
            </a:solidFill>
          </c:spPr>
          <c:marker>
            <c:symbol val="none"/>
          </c:marker>
          <c:cat>
            <c:numRef>
              <c:f>'Chart Data'!$A$2:$A$31</c:f>
              <c:numCache>
                <c:formatCode>General</c:formatCode>
                <c:ptCount val="30"/>
                <c:pt idx="0">
                  <c:v>100</c:v>
                </c:pt>
                <c:pt idx="1">
                  <c:v>200</c:v>
                </c:pt>
                <c:pt idx="2">
                  <c:v>300</c:v>
                </c:pt>
                <c:pt idx="3">
                  <c:v>400</c:v>
                </c:pt>
                <c:pt idx="4">
                  <c:v>500</c:v>
                </c:pt>
                <c:pt idx="5">
                  <c:v>600</c:v>
                </c:pt>
                <c:pt idx="6">
                  <c:v>700</c:v>
                </c:pt>
                <c:pt idx="7">
                  <c:v>800</c:v>
                </c:pt>
                <c:pt idx="8">
                  <c:v>900</c:v>
                </c:pt>
                <c:pt idx="9">
                  <c:v>1000</c:v>
                </c:pt>
                <c:pt idx="10">
                  <c:v>1100</c:v>
                </c:pt>
                <c:pt idx="11">
                  <c:v>1200</c:v>
                </c:pt>
                <c:pt idx="12">
                  <c:v>1300</c:v>
                </c:pt>
                <c:pt idx="13">
                  <c:v>1400</c:v>
                </c:pt>
                <c:pt idx="14">
                  <c:v>1500</c:v>
                </c:pt>
                <c:pt idx="15">
                  <c:v>1600</c:v>
                </c:pt>
                <c:pt idx="16">
                  <c:v>1700</c:v>
                </c:pt>
                <c:pt idx="17">
                  <c:v>1800</c:v>
                </c:pt>
                <c:pt idx="18">
                  <c:v>1900</c:v>
                </c:pt>
                <c:pt idx="19">
                  <c:v>2000</c:v>
                </c:pt>
                <c:pt idx="20">
                  <c:v>2100</c:v>
                </c:pt>
                <c:pt idx="21">
                  <c:v>2200</c:v>
                </c:pt>
                <c:pt idx="22">
                  <c:v>2300</c:v>
                </c:pt>
                <c:pt idx="23">
                  <c:v>2400</c:v>
                </c:pt>
                <c:pt idx="24">
                  <c:v>2500</c:v>
                </c:pt>
                <c:pt idx="25">
                  <c:v>2600</c:v>
                </c:pt>
                <c:pt idx="26">
                  <c:v>2700</c:v>
                </c:pt>
                <c:pt idx="27">
                  <c:v>2800</c:v>
                </c:pt>
                <c:pt idx="28">
                  <c:v>2900</c:v>
                </c:pt>
                <c:pt idx="29">
                  <c:v>3000</c:v>
                </c:pt>
              </c:numCache>
            </c:numRef>
          </c:cat>
          <c:val>
            <c:numRef>
              <c:f>'Chart Data'!$B$2:$B$31</c:f>
              <c:numCache>
                <c:formatCode>General</c:formatCode>
                <c:ptCount val="30"/>
                <c:pt idx="0">
                  <c:v>-89.21</c:v>
                </c:pt>
                <c:pt idx="1">
                  <c:v>46.92</c:v>
                </c:pt>
                <c:pt idx="2">
                  <c:v>66.68</c:v>
                </c:pt>
                <c:pt idx="3">
                  <c:v>78.13</c:v>
                </c:pt>
                <c:pt idx="4">
                  <c:v>82.1</c:v>
                </c:pt>
                <c:pt idx="5">
                  <c:v>86.08</c:v>
                </c:pt>
                <c:pt idx="6">
                  <c:v>87.07</c:v>
                </c:pt>
                <c:pt idx="7">
                  <c:v>88.27</c:v>
                </c:pt>
                <c:pt idx="8">
                  <c:v>88.79</c:v>
                </c:pt>
                <c:pt idx="9">
                  <c:v>88.73</c:v>
                </c:pt>
                <c:pt idx="10">
                  <c:v>89.56</c:v>
                </c:pt>
                <c:pt idx="11">
                  <c:v>89.6</c:v>
                </c:pt>
                <c:pt idx="12">
                  <c:v>89.58</c:v>
                </c:pt>
                <c:pt idx="13">
                  <c:v>89.7</c:v>
                </c:pt>
                <c:pt idx="14">
                  <c:v>89.73</c:v>
                </c:pt>
                <c:pt idx="15">
                  <c:v>89.85</c:v>
                </c:pt>
                <c:pt idx="16">
                  <c:v>89.98</c:v>
                </c:pt>
                <c:pt idx="17">
                  <c:v>89.68</c:v>
                </c:pt>
                <c:pt idx="18">
                  <c:v>89.83</c:v>
                </c:pt>
                <c:pt idx="19">
                  <c:v>89.89</c:v>
                </c:pt>
                <c:pt idx="20">
                  <c:v>90.09</c:v>
                </c:pt>
                <c:pt idx="21">
                  <c:v>89.89</c:v>
                </c:pt>
                <c:pt idx="22">
                  <c:v>89.82</c:v>
                </c:pt>
                <c:pt idx="23">
                  <c:v>89.42</c:v>
                </c:pt>
                <c:pt idx="24">
                  <c:v>89.85</c:v>
                </c:pt>
                <c:pt idx="25">
                  <c:v>89.58</c:v>
                </c:pt>
                <c:pt idx="26">
                  <c:v>89.98</c:v>
                </c:pt>
                <c:pt idx="27">
                  <c:v>89.97</c:v>
                </c:pt>
                <c:pt idx="28">
                  <c:v>90.07</c:v>
                </c:pt>
                <c:pt idx="29">
                  <c:v>89.73</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486178"/>
                </a:solidFill>
                <a:latin typeface="Aptos"/>
                <a:ea typeface="Aptos"/>
                <a:cs typeface="Aptos"/>
              </a:defRPr>
            </a:pPr>
          </a:p>
        </c:txPr>
        <c:crossAx val="48672768"/>
      </c:catAx>
      <c:valAx>
        <c:axId val="48672768"/>
        <c:scaling>
          <c:orientation val="minMax"/>
        </c:scaling>
        <c:delete val="0"/>
        <c:axPos val="l"/>
        <c:majorGridlines>
          <c:spPr>
            <a:ln xmlns:a="http://schemas.openxmlformats.org/drawingml/2006/main" w="9525">
              <a:solidFill>
                <a:srgbClr val="D9E3EA"/>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486178"/>
                </a:solidFill>
                <a:latin typeface="Aptos"/>
                <a:ea typeface="Aptos"/>
                <a:cs typeface="Aptos"/>
              </a:defRPr>
            </a:pPr>
          </a:p>
        </c:txPr>
        <c:crossAx val="48650112"/>
        <c:crossBetween val="between"/>
        <c:majorUnit val="50"/>
      </c:valAx>
      <c:spPr>
        <a:solidFill xmlns:a="http://schemas.openxmlformats.org/drawingml/2006/main">
          <a:srgbClr val="F8FAFC"/>
        </a:solidFill>
      </c:spPr>
    </c:plotArea>
    <c:plotVisOnly val="1"/>
  </c:chart>
  <c:spPr>
    <a:solidFill xmlns:a="http://schemas.openxmlformats.org/drawingml/2006/main">
      <a:srgbClr val="F8FAFC"/>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63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896F7B5-6C4A-4870-AF7E-3F3A2306169E}"/>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defRPr>
            </a:defPPr>
            <a:lvl1pPr>
              <a:defRPr sz="3300" b="1">
                <a:solidFill>
                  <a:srgbClr val="FFFFFF"/>
                </a:solidFill>
              </a:defRPr>
            </a:lvl1pPr>
            <a:lvl2pPr>
              <a:defRPr sz="3300" b="1">
                <a:solidFill>
                  <a:srgbClr val="FFFFFF"/>
                </a:solidFill>
              </a:defRPr>
            </a:lvl2pPr>
            <a:lvl3pPr>
              <a:defRPr sz="3300" b="1">
                <a:solidFill>
                  <a:srgbClr val="FFFFFF"/>
                </a:solidFill>
              </a:defRPr>
            </a:lvl3pPr>
            <a:lvl4pPr>
              <a:defRPr sz="3300" b="1">
                <a:solidFill>
                  <a:srgbClr val="FFFFFF"/>
                </a:solidFill>
              </a:defRPr>
            </a:lvl4pPr>
            <a:lvl5pPr>
              <a:defRPr sz="3300" b="1">
                <a:solidFill>
                  <a:srgbClr val="FFFFFF"/>
                </a:solidFill>
              </a:defRPr>
            </a:lvl5pPr>
            <a:lvl6pPr>
              <a:defRPr sz="3300" b="1">
                <a:solidFill>
                  <a:srgbClr val="FFFFFF"/>
                </a:solidFill>
              </a:defRPr>
            </a:lvl6pPr>
            <a:lvl7pPr>
              <a:defRPr sz="3300" b="1">
                <a:solidFill>
                  <a:srgbClr val="FFFFFF"/>
                </a:solidFill>
              </a:defRPr>
            </a:lvl7pPr>
            <a:lvl8pPr>
              <a:defRPr sz="3300" b="1">
                <a:solidFill>
                  <a:srgbClr val="FFFFFF"/>
                </a:solidFill>
              </a:defRPr>
            </a:lvl8pPr>
            <a:lvl9pPr>
              <a:defRPr sz="3300" b="1">
                <a:solidFill>
                  <a:srgbClr val="FFFFFF"/>
                </a:solidFill>
              </a:defRPr>
            </a:lvl9pPr>
          </a:lstStyle>
          <a:p xmlns:a="http://schemas.openxmlformats.org/drawingml/2006/main">
            <a:pPr>
              <a:defRPr sz="3300" b="1">
                <a:solidFill>
                  <a:srgbClr val="FFFFFF"/>
                </a:solidFill>
              </a:defRPr>
            </a:pPr>
            <a:r>
              <a:rPr sz="3300" b="1">
                <a:solidFill>
                  <a:srgbClr val="FFFFFF"/>
                </a:solidFill>
              </a:rPr>
              <a:t>Q-learning in a grid world</a:t>
            </a:r>
          </a:p>
        </p:txBody>
      </p:sp>
      <p:sp>
        <p:nvSpPr>
          <p:cNvPr id="2" name="">
            <a:extLst xmlns:a="http://schemas.openxmlformats.org/drawingml/2006/main">
              <a:ext uri="{FF2B5EF4-FFF2-40B4-BE49-F238E27FC236}">
                <a16:creationId xmlns:a16="http://schemas.microsoft.com/office/drawing/2014/main" id="{79DCB013-917C-4693-A30E-773A2947E4F2}"/>
              </a:ext>
            </a:extLst>
          </p:cNvPr>
          <p:cNvSpPr>
            <a:spLocks xmlns:a="http://schemas.openxmlformats.org/drawingml/2006/main" noGrp="1"/>
          </p:cNvSpPr>
          <p:nvPr/>
        </p:nvSpPr>
        <p:spPr>
          <a:xfrm xmlns:a="http://schemas.openxmlformats.org/drawingml/2006/main">
            <a:off x="1123950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8C9D7"/>
                </a:solidFill>
              </a:defRPr>
            </a:defPPr>
            <a:lvl1pPr>
              <a:defRPr sz="1350" b="0">
                <a:solidFill>
                  <a:srgbClr val="A8C9D7"/>
                </a:solidFill>
              </a:defRPr>
            </a:lvl1pPr>
            <a:lvl2pPr>
              <a:defRPr sz="1350" b="0">
                <a:solidFill>
                  <a:srgbClr val="A8C9D7"/>
                </a:solidFill>
              </a:defRPr>
            </a:lvl2pPr>
            <a:lvl3pPr>
              <a:defRPr sz="1350" b="0">
                <a:solidFill>
                  <a:srgbClr val="A8C9D7"/>
                </a:solidFill>
              </a:defRPr>
            </a:lvl3pPr>
            <a:lvl4pPr>
              <a:defRPr sz="1350" b="0">
                <a:solidFill>
                  <a:srgbClr val="A8C9D7"/>
                </a:solidFill>
              </a:defRPr>
            </a:lvl4pPr>
            <a:lvl5pPr>
              <a:defRPr sz="1350" b="0">
                <a:solidFill>
                  <a:srgbClr val="A8C9D7"/>
                </a:solidFill>
              </a:defRPr>
            </a:lvl5pPr>
            <a:lvl6pPr>
              <a:defRPr sz="1350" b="0">
                <a:solidFill>
                  <a:srgbClr val="A8C9D7"/>
                </a:solidFill>
              </a:defRPr>
            </a:lvl6pPr>
            <a:lvl7pPr>
              <a:defRPr sz="1350" b="0">
                <a:solidFill>
                  <a:srgbClr val="A8C9D7"/>
                </a:solidFill>
              </a:defRPr>
            </a:lvl7pPr>
            <a:lvl8pPr>
              <a:defRPr sz="1350" b="0">
                <a:solidFill>
                  <a:srgbClr val="A8C9D7"/>
                </a:solidFill>
              </a:defRPr>
            </a:lvl8pPr>
            <a:lvl9pPr>
              <a:defRPr sz="1350" b="0">
                <a:solidFill>
                  <a:srgbClr val="A8C9D7"/>
                </a:solidFill>
              </a:defRPr>
            </a:lvl9pPr>
          </a:lstStyle>
          <a:p xmlns:a="http://schemas.openxmlformats.org/drawingml/2006/main">
            <a:pPr>
              <a:defRPr sz="1350" b="0">
                <a:solidFill>
                  <a:srgbClr val="A8C9D7"/>
                </a:solidFill>
              </a:defRPr>
            </a:pPr>
            <a:r>
              <a:rPr sz="1350" b="0">
                <a:solidFill>
                  <a:srgbClr val="A8C9D7"/>
                </a:solidFill>
              </a:rPr>
              <a:t>01</a:t>
            </a:r>
          </a:p>
        </p:txBody>
      </p:sp>
      <p:sp>
        <p:nvSpPr>
          <p:cNvPr id="3" name="">
            <a:extLst xmlns:a="http://schemas.openxmlformats.org/drawingml/2006/main">
              <a:ext uri="{FF2B5EF4-FFF2-40B4-BE49-F238E27FC236}">
                <a16:creationId xmlns:a16="http://schemas.microsoft.com/office/drawing/2014/main" id="{DC405F91-688C-415F-B816-5A64BACAA2C3}"/>
              </a:ext>
            </a:extLst>
          </p:cNvPr>
          <p:cNvSpPr>
            <a:spLocks xmlns:a="http://schemas.openxmlformats.org/drawingml/2006/main" noGrp="1"/>
          </p:cNvSpPr>
          <p:nvPr/>
        </p:nvSpPr>
        <p:spPr>
          <a:xfrm xmlns:a="http://schemas.openxmlformats.org/drawingml/2006/main">
            <a:off x="609600" y="271462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FFFFFF"/>
                </a:solidFill>
              </a:defRPr>
            </a:defPPr>
            <a:lvl1pPr>
              <a:defRPr sz="3600" b="0">
                <a:solidFill>
                  <a:srgbClr val="FFFFFF"/>
                </a:solidFill>
              </a:defRPr>
            </a:lvl1pPr>
            <a:lvl2pPr>
              <a:defRPr sz="3600" b="0">
                <a:solidFill>
                  <a:srgbClr val="FFFFFF"/>
                </a:solidFill>
              </a:defRPr>
            </a:lvl2pPr>
            <a:lvl3pPr>
              <a:defRPr sz="3600" b="0">
                <a:solidFill>
                  <a:srgbClr val="FFFFFF"/>
                </a:solidFill>
              </a:defRPr>
            </a:lvl3pPr>
            <a:lvl4pPr>
              <a:defRPr sz="3600" b="0">
                <a:solidFill>
                  <a:srgbClr val="FFFFFF"/>
                </a:solidFill>
              </a:defRPr>
            </a:lvl4pPr>
            <a:lvl5pPr>
              <a:defRPr sz="3600" b="0">
                <a:solidFill>
                  <a:srgbClr val="FFFFFF"/>
                </a:solidFill>
              </a:defRPr>
            </a:lvl5pPr>
            <a:lvl6pPr>
              <a:defRPr sz="3600" b="0">
                <a:solidFill>
                  <a:srgbClr val="FFFFFF"/>
                </a:solidFill>
              </a:defRPr>
            </a:lvl6pPr>
            <a:lvl7pPr>
              <a:defRPr sz="3600" b="0">
                <a:solidFill>
                  <a:srgbClr val="FFFFFF"/>
                </a:solidFill>
              </a:defRPr>
            </a:lvl7pPr>
            <a:lvl8pPr>
              <a:defRPr sz="3600" b="0">
                <a:solidFill>
                  <a:srgbClr val="FFFFFF"/>
                </a:solidFill>
              </a:defRPr>
            </a:lvl8pPr>
            <a:lvl9pPr>
              <a:defRPr sz="3600" b="0">
                <a:solidFill>
                  <a:srgbClr val="FFFFFF"/>
                </a:solidFill>
              </a:defRPr>
            </a:lvl9pPr>
          </a:lstStyle>
          <a:p xmlns:a="http://schemas.openxmlformats.org/drawingml/2006/main">
            <a:pPr>
              <a:defRPr sz="3600" b="0">
                <a:solidFill>
                  <a:srgbClr val="FFFFFF"/>
                </a:solidFill>
              </a:defRPr>
            </a:pPr>
            <a:r>
              <a:rPr sz="3600" b="0">
                <a:solidFill>
                  <a:srgbClr val="FFFFFF"/>
                </a:solidFill>
              </a:rPr>
              <a:t>Learning a route around obstacles</a:t>
            </a:r>
          </a:p>
        </p:txBody>
      </p:sp>
      <p:sp>
        <p:nvSpPr>
          <p:cNvPr id="4" name="">
            <a:extLst xmlns:a="http://schemas.openxmlformats.org/drawingml/2006/main">
              <a:ext uri="{FF2B5EF4-FFF2-40B4-BE49-F238E27FC236}">
                <a16:creationId xmlns:a16="http://schemas.microsoft.com/office/drawing/2014/main" id="{F9344598-71FD-4EDB-8290-F2082E7B064C}"/>
              </a:ext>
            </a:extLst>
          </p:cNvPr>
          <p:cNvSpPr>
            <a:spLocks xmlns:a="http://schemas.openxmlformats.org/drawingml/2006/main" noGrp="1"/>
          </p:cNvSpPr>
          <p:nvPr/>
        </p:nvSpPr>
        <p:spPr>
          <a:xfrm xmlns:a="http://schemas.openxmlformats.org/drawingml/2006/main">
            <a:off x="609600" y="400050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A8C9D7"/>
                </a:solidFill>
              </a:defRPr>
            </a:defPPr>
            <a:lvl1pPr>
              <a:defRPr sz="2100" b="0">
                <a:solidFill>
                  <a:srgbClr val="A8C9D7"/>
                </a:solidFill>
              </a:defRPr>
            </a:lvl1pPr>
            <a:lvl2pPr>
              <a:defRPr sz="2100" b="0">
                <a:solidFill>
                  <a:srgbClr val="A8C9D7"/>
                </a:solidFill>
              </a:defRPr>
            </a:lvl2pPr>
            <a:lvl3pPr>
              <a:defRPr sz="2100" b="0">
                <a:solidFill>
                  <a:srgbClr val="A8C9D7"/>
                </a:solidFill>
              </a:defRPr>
            </a:lvl3pPr>
            <a:lvl4pPr>
              <a:defRPr sz="2100" b="0">
                <a:solidFill>
                  <a:srgbClr val="A8C9D7"/>
                </a:solidFill>
              </a:defRPr>
            </a:lvl4pPr>
            <a:lvl5pPr>
              <a:defRPr sz="2100" b="0">
                <a:solidFill>
                  <a:srgbClr val="A8C9D7"/>
                </a:solidFill>
              </a:defRPr>
            </a:lvl5pPr>
            <a:lvl6pPr>
              <a:defRPr sz="2100" b="0">
                <a:solidFill>
                  <a:srgbClr val="A8C9D7"/>
                </a:solidFill>
              </a:defRPr>
            </a:lvl6pPr>
            <a:lvl7pPr>
              <a:defRPr sz="2100" b="0">
                <a:solidFill>
                  <a:srgbClr val="A8C9D7"/>
                </a:solidFill>
              </a:defRPr>
            </a:lvl7pPr>
            <a:lvl8pPr>
              <a:defRPr sz="2100" b="0">
                <a:solidFill>
                  <a:srgbClr val="A8C9D7"/>
                </a:solidFill>
              </a:defRPr>
            </a:lvl8pPr>
            <a:lvl9pPr>
              <a:defRPr sz="2100" b="0">
                <a:solidFill>
                  <a:srgbClr val="A8C9D7"/>
                </a:solidFill>
              </a:defRPr>
            </a:lvl9pPr>
          </a:lstStyle>
          <a:p xmlns:a="http://schemas.openxmlformats.org/drawingml/2006/main">
            <a:pPr>
              <a:defRPr sz="2100" b="0">
                <a:solidFill>
                  <a:srgbClr val="A8C9D7"/>
                </a:solidFill>
              </a:defRPr>
            </a:pPr>
            <a:r>
              <a:rPr sz="2100" b="0">
                <a:solidFill>
                  <a:srgbClr val="A8C9D7"/>
                </a:solidFill>
              </a:rPr>
              <a:t>Python project presentation</a:t>
            </a:r>
          </a:p>
        </p:txBody>
      </p:sp>
    </p:spTree>
    <p:extLst>
      <p:ext uri="{BB962C8B-B14F-4D97-AF65-F5344CB8AC3E}">
        <p14:creationId xmlns:p14="http://schemas.microsoft.com/office/powerpoint/2010/main" val="1609950123"/>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F1EB62D-3546-4127-8749-5F1DB3674A88}"/>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63B"/>
                </a:solidFill>
              </a:defRPr>
            </a:defPPr>
            <a:lvl1pPr>
              <a:defRPr sz="3300" b="1">
                <a:solidFill>
                  <a:srgbClr val="10263B"/>
                </a:solidFill>
              </a:defRPr>
            </a:lvl1pPr>
            <a:lvl2pPr>
              <a:defRPr sz="3300" b="1">
                <a:solidFill>
                  <a:srgbClr val="10263B"/>
                </a:solidFill>
              </a:defRPr>
            </a:lvl2pPr>
            <a:lvl3pPr>
              <a:defRPr sz="3300" b="1">
                <a:solidFill>
                  <a:srgbClr val="10263B"/>
                </a:solidFill>
              </a:defRPr>
            </a:lvl3pPr>
            <a:lvl4pPr>
              <a:defRPr sz="3300" b="1">
                <a:solidFill>
                  <a:srgbClr val="10263B"/>
                </a:solidFill>
              </a:defRPr>
            </a:lvl4pPr>
            <a:lvl5pPr>
              <a:defRPr sz="3300" b="1">
                <a:solidFill>
                  <a:srgbClr val="10263B"/>
                </a:solidFill>
              </a:defRPr>
            </a:lvl5pPr>
            <a:lvl6pPr>
              <a:defRPr sz="3300" b="1">
                <a:solidFill>
                  <a:srgbClr val="10263B"/>
                </a:solidFill>
              </a:defRPr>
            </a:lvl6pPr>
            <a:lvl7pPr>
              <a:defRPr sz="3300" b="1">
                <a:solidFill>
                  <a:srgbClr val="10263B"/>
                </a:solidFill>
              </a:defRPr>
            </a:lvl7pPr>
            <a:lvl8pPr>
              <a:defRPr sz="3300" b="1">
                <a:solidFill>
                  <a:srgbClr val="10263B"/>
                </a:solidFill>
              </a:defRPr>
            </a:lvl8pPr>
            <a:lvl9pPr>
              <a:defRPr sz="3300" b="1">
                <a:solidFill>
                  <a:srgbClr val="10263B"/>
                </a:solidFill>
              </a:defRPr>
            </a:lvl9pPr>
          </a:lstStyle>
          <a:p xmlns:a="http://schemas.openxmlformats.org/drawingml/2006/main">
            <a:pPr>
              <a:defRPr sz="3300" b="1">
                <a:solidFill>
                  <a:srgbClr val="10263B"/>
                </a:solidFill>
              </a:defRPr>
            </a:pPr>
            <a:r>
              <a:rPr sz="3300" b="1">
                <a:solidFill>
                  <a:srgbClr val="10263B"/>
                </a:solidFill>
              </a:rPr>
              <a:t>Problem and project objective</a:t>
            </a:r>
          </a:p>
        </p:txBody>
      </p:sp>
      <p:sp>
        <p:nvSpPr>
          <p:cNvPr id="2" name="">
            <a:extLst xmlns:a="http://schemas.openxmlformats.org/drawingml/2006/main">
              <a:ext uri="{FF2B5EF4-FFF2-40B4-BE49-F238E27FC236}">
                <a16:creationId xmlns:a16="http://schemas.microsoft.com/office/drawing/2014/main" id="{B94278E5-1B9C-4A8F-93E4-CA94A75094C8}"/>
              </a:ext>
            </a:extLst>
          </p:cNvPr>
          <p:cNvSpPr>
            <a:spLocks xmlns:a="http://schemas.openxmlformats.org/drawingml/2006/main" noGrp="1"/>
          </p:cNvSpPr>
          <p:nvPr/>
        </p:nvSpPr>
        <p:spPr>
          <a:xfrm xmlns:a="http://schemas.openxmlformats.org/drawingml/2006/main">
            <a:off x="1123950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86178"/>
                </a:solidFill>
              </a:defRPr>
            </a:defPPr>
            <a:lvl1pPr>
              <a:defRPr sz="1350" b="0">
                <a:solidFill>
                  <a:srgbClr val="486178"/>
                </a:solidFill>
              </a:defRPr>
            </a:lvl1pPr>
            <a:lvl2pPr>
              <a:defRPr sz="1350" b="0">
                <a:solidFill>
                  <a:srgbClr val="486178"/>
                </a:solidFill>
              </a:defRPr>
            </a:lvl2pPr>
            <a:lvl3pPr>
              <a:defRPr sz="1350" b="0">
                <a:solidFill>
                  <a:srgbClr val="486178"/>
                </a:solidFill>
              </a:defRPr>
            </a:lvl3pPr>
            <a:lvl4pPr>
              <a:defRPr sz="1350" b="0">
                <a:solidFill>
                  <a:srgbClr val="486178"/>
                </a:solidFill>
              </a:defRPr>
            </a:lvl4pPr>
            <a:lvl5pPr>
              <a:defRPr sz="1350" b="0">
                <a:solidFill>
                  <a:srgbClr val="486178"/>
                </a:solidFill>
              </a:defRPr>
            </a:lvl5pPr>
            <a:lvl6pPr>
              <a:defRPr sz="1350" b="0">
                <a:solidFill>
                  <a:srgbClr val="486178"/>
                </a:solidFill>
              </a:defRPr>
            </a:lvl6pPr>
            <a:lvl7pPr>
              <a:defRPr sz="1350" b="0">
                <a:solidFill>
                  <a:srgbClr val="486178"/>
                </a:solidFill>
              </a:defRPr>
            </a:lvl7pPr>
            <a:lvl8pPr>
              <a:defRPr sz="1350" b="0">
                <a:solidFill>
                  <a:srgbClr val="486178"/>
                </a:solidFill>
              </a:defRPr>
            </a:lvl8pPr>
            <a:lvl9pPr>
              <a:defRPr sz="1350" b="0">
                <a:solidFill>
                  <a:srgbClr val="486178"/>
                </a:solidFill>
              </a:defRPr>
            </a:lvl9pPr>
          </a:lstStyle>
          <a:p xmlns:a="http://schemas.openxmlformats.org/drawingml/2006/main">
            <a:pPr>
              <a:defRPr sz="1350" b="0">
                <a:solidFill>
                  <a:srgbClr val="486178"/>
                </a:solidFill>
              </a:defRPr>
            </a:pPr>
            <a:r>
              <a:rPr sz="1350" b="0">
                <a:solidFill>
                  <a:srgbClr val="486178"/>
                </a:solidFill>
              </a:rPr>
              <a:t>02</a:t>
            </a:r>
          </a:p>
        </p:txBody>
      </p:sp>
      <p:sp>
        <p:nvSpPr>
          <p:cNvPr id="3" name="">
            <a:extLst xmlns:a="http://schemas.openxmlformats.org/drawingml/2006/main">
              <a:ext uri="{FF2B5EF4-FFF2-40B4-BE49-F238E27FC236}">
                <a16:creationId xmlns:a16="http://schemas.microsoft.com/office/drawing/2014/main" id="{326737FD-B6AE-4F3C-AB24-79B1F5FF7FA4}"/>
              </a:ext>
            </a:extLst>
          </p:cNvPr>
          <p:cNvSpPr>
            <a:spLocks xmlns:a="http://schemas.openxmlformats.org/drawingml/2006/main" noGrp="1"/>
          </p:cNvSpPr>
          <p:nvPr/>
        </p:nvSpPr>
        <p:spPr>
          <a:xfrm xmlns:a="http://schemas.openxmlformats.org/drawingml/2006/main">
            <a:off x="609600" y="18097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0263B"/>
                </a:solidFill>
              </a:defRPr>
            </a:defPPr>
            <a:lvl1pPr>
              <a:defRPr sz="2250" b="0">
                <a:solidFill>
                  <a:srgbClr val="10263B"/>
                </a:solidFill>
              </a:defRPr>
            </a:lvl1pPr>
            <a:lvl2pPr>
              <a:defRPr sz="2250" b="0">
                <a:solidFill>
                  <a:srgbClr val="10263B"/>
                </a:solidFill>
              </a:defRPr>
            </a:lvl2pPr>
            <a:lvl3pPr>
              <a:defRPr sz="2250" b="0">
                <a:solidFill>
                  <a:srgbClr val="10263B"/>
                </a:solidFill>
              </a:defRPr>
            </a:lvl3pPr>
            <a:lvl4pPr>
              <a:defRPr sz="2250" b="0">
                <a:solidFill>
                  <a:srgbClr val="10263B"/>
                </a:solidFill>
              </a:defRPr>
            </a:lvl4pPr>
            <a:lvl5pPr>
              <a:defRPr sz="2250" b="0">
                <a:solidFill>
                  <a:srgbClr val="10263B"/>
                </a:solidFill>
              </a:defRPr>
            </a:lvl5pPr>
            <a:lvl6pPr>
              <a:defRPr sz="2250" b="0">
                <a:solidFill>
                  <a:srgbClr val="10263B"/>
                </a:solidFill>
              </a:defRPr>
            </a:lvl6pPr>
            <a:lvl7pPr>
              <a:defRPr sz="2250" b="0">
                <a:solidFill>
                  <a:srgbClr val="10263B"/>
                </a:solidFill>
              </a:defRPr>
            </a:lvl7pPr>
            <a:lvl8pPr>
              <a:defRPr sz="2250" b="0">
                <a:solidFill>
                  <a:srgbClr val="10263B"/>
                </a:solidFill>
              </a:defRPr>
            </a:lvl8pPr>
            <a:lvl9pPr>
              <a:defRPr sz="2250" b="0">
                <a:solidFill>
                  <a:srgbClr val="10263B"/>
                </a:solidFill>
              </a:defRPr>
            </a:lvl9pPr>
          </a:lstStyle>
          <a:p xmlns:a="http://schemas.openxmlformats.org/drawingml/2006/main">
            <a:pPr>
              <a:defRPr sz="2250" b="0">
                <a:solidFill>
                  <a:srgbClr val="10263B"/>
                </a:solidFill>
              </a:defRPr>
            </a:pPr>
            <a:r>
              <a:rPr sz="2250" b="0">
                <a:solidFill>
                  <a:srgbClr val="10263B"/>
                </a:solidFill>
              </a:rPr>
              <a:t>Navigate from the start cell to the goal</a:t>
            </a:r>
          </a:p>
        </p:txBody>
      </p:sp>
      <p:sp>
        <p:nvSpPr>
          <p:cNvPr id="4" name="">
            <a:extLst xmlns:a="http://schemas.openxmlformats.org/drawingml/2006/main">
              <a:ext uri="{FF2B5EF4-FFF2-40B4-BE49-F238E27FC236}">
                <a16:creationId xmlns:a16="http://schemas.microsoft.com/office/drawing/2014/main" id="{20068014-C8B9-44B7-831B-975BBA9F774B}"/>
              </a:ext>
            </a:extLst>
          </p:cNvPr>
          <p:cNvSpPr>
            <a:spLocks xmlns:a="http://schemas.openxmlformats.org/drawingml/2006/main" noGrp="1"/>
          </p:cNvSpPr>
          <p:nvPr/>
        </p:nvSpPr>
        <p:spPr>
          <a:xfrm xmlns:a="http://schemas.openxmlformats.org/drawingml/2006/main">
            <a:off x="609600" y="270510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0263B"/>
                </a:solidFill>
              </a:defRPr>
            </a:defPPr>
            <a:lvl1pPr>
              <a:defRPr sz="2250" b="0">
                <a:solidFill>
                  <a:srgbClr val="10263B"/>
                </a:solidFill>
              </a:defRPr>
            </a:lvl1pPr>
            <a:lvl2pPr>
              <a:defRPr sz="2250" b="0">
                <a:solidFill>
                  <a:srgbClr val="10263B"/>
                </a:solidFill>
              </a:defRPr>
            </a:lvl2pPr>
            <a:lvl3pPr>
              <a:defRPr sz="2250" b="0">
                <a:solidFill>
                  <a:srgbClr val="10263B"/>
                </a:solidFill>
              </a:defRPr>
            </a:lvl3pPr>
            <a:lvl4pPr>
              <a:defRPr sz="2250" b="0">
                <a:solidFill>
                  <a:srgbClr val="10263B"/>
                </a:solidFill>
              </a:defRPr>
            </a:lvl4pPr>
            <a:lvl5pPr>
              <a:defRPr sz="2250" b="0">
                <a:solidFill>
                  <a:srgbClr val="10263B"/>
                </a:solidFill>
              </a:defRPr>
            </a:lvl5pPr>
            <a:lvl6pPr>
              <a:defRPr sz="2250" b="0">
                <a:solidFill>
                  <a:srgbClr val="10263B"/>
                </a:solidFill>
              </a:defRPr>
            </a:lvl6pPr>
            <a:lvl7pPr>
              <a:defRPr sz="2250" b="0">
                <a:solidFill>
                  <a:srgbClr val="10263B"/>
                </a:solidFill>
              </a:defRPr>
            </a:lvl7pPr>
            <a:lvl8pPr>
              <a:defRPr sz="2250" b="0">
                <a:solidFill>
                  <a:srgbClr val="10263B"/>
                </a:solidFill>
              </a:defRPr>
            </a:lvl8pPr>
            <a:lvl9pPr>
              <a:defRPr sz="2250" b="0">
                <a:solidFill>
                  <a:srgbClr val="10263B"/>
                </a:solidFill>
              </a:defRPr>
            </a:lvl9pPr>
          </a:lstStyle>
          <a:p xmlns:a="http://schemas.openxmlformats.org/drawingml/2006/main">
            <a:pPr>
              <a:defRPr sz="2250" b="0">
                <a:solidFill>
                  <a:srgbClr val="10263B"/>
                </a:solidFill>
              </a:defRPr>
            </a:pPr>
            <a:r>
              <a:rPr sz="2250" b="0">
                <a:solidFill>
                  <a:srgbClr val="10263B"/>
                </a:solidFill>
              </a:rPr>
              <a:t>Avoid blocked cells and grid boundaries</a:t>
            </a:r>
          </a:p>
        </p:txBody>
      </p:sp>
      <p:sp>
        <p:nvSpPr>
          <p:cNvPr id="5" name="">
            <a:extLst xmlns:a="http://schemas.openxmlformats.org/drawingml/2006/main">
              <a:ext uri="{FF2B5EF4-FFF2-40B4-BE49-F238E27FC236}">
                <a16:creationId xmlns:a16="http://schemas.microsoft.com/office/drawing/2014/main" id="{A1B82E63-E59B-445F-A332-4F63A2702F89}"/>
              </a:ext>
            </a:extLst>
          </p:cNvPr>
          <p:cNvSpPr>
            <a:spLocks xmlns:a="http://schemas.openxmlformats.org/drawingml/2006/main" noGrp="1"/>
          </p:cNvSpPr>
          <p:nvPr/>
        </p:nvSpPr>
        <p:spPr>
          <a:xfrm xmlns:a="http://schemas.openxmlformats.org/drawingml/2006/main">
            <a:off x="609600" y="36004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0263B"/>
                </a:solidFill>
              </a:defRPr>
            </a:defPPr>
            <a:lvl1pPr>
              <a:defRPr sz="2250" b="0">
                <a:solidFill>
                  <a:srgbClr val="10263B"/>
                </a:solidFill>
              </a:defRPr>
            </a:lvl1pPr>
            <a:lvl2pPr>
              <a:defRPr sz="2250" b="0">
                <a:solidFill>
                  <a:srgbClr val="10263B"/>
                </a:solidFill>
              </a:defRPr>
            </a:lvl2pPr>
            <a:lvl3pPr>
              <a:defRPr sz="2250" b="0">
                <a:solidFill>
                  <a:srgbClr val="10263B"/>
                </a:solidFill>
              </a:defRPr>
            </a:lvl3pPr>
            <a:lvl4pPr>
              <a:defRPr sz="2250" b="0">
                <a:solidFill>
                  <a:srgbClr val="10263B"/>
                </a:solidFill>
              </a:defRPr>
            </a:lvl4pPr>
            <a:lvl5pPr>
              <a:defRPr sz="2250" b="0">
                <a:solidFill>
                  <a:srgbClr val="10263B"/>
                </a:solidFill>
              </a:defRPr>
            </a:lvl5pPr>
            <a:lvl6pPr>
              <a:defRPr sz="2250" b="0">
                <a:solidFill>
                  <a:srgbClr val="10263B"/>
                </a:solidFill>
              </a:defRPr>
            </a:lvl6pPr>
            <a:lvl7pPr>
              <a:defRPr sz="2250" b="0">
                <a:solidFill>
                  <a:srgbClr val="10263B"/>
                </a:solidFill>
              </a:defRPr>
            </a:lvl7pPr>
            <a:lvl8pPr>
              <a:defRPr sz="2250" b="0">
                <a:solidFill>
                  <a:srgbClr val="10263B"/>
                </a:solidFill>
              </a:defRPr>
            </a:lvl8pPr>
            <a:lvl9pPr>
              <a:defRPr sz="2250" b="0">
                <a:solidFill>
                  <a:srgbClr val="10263B"/>
                </a:solidFill>
              </a:defRPr>
            </a:lvl9pPr>
          </a:lstStyle>
          <a:p xmlns:a="http://schemas.openxmlformats.org/drawingml/2006/main">
            <a:pPr>
              <a:defRPr sz="2250" b="0">
                <a:solidFill>
                  <a:srgbClr val="10263B"/>
                </a:solidFill>
              </a:defRPr>
            </a:pPr>
            <a:r>
              <a:rPr sz="2250" b="0">
                <a:solidFill>
                  <a:srgbClr val="10263B"/>
                </a:solidFill>
              </a:rPr>
              <a:t>Learn action values through repeated episodes</a:t>
            </a:r>
          </a:p>
        </p:txBody>
      </p:sp>
      <p:sp>
        <p:nvSpPr>
          <p:cNvPr id="6" name="">
            <a:extLst xmlns:a="http://schemas.openxmlformats.org/drawingml/2006/main">
              <a:ext uri="{FF2B5EF4-FFF2-40B4-BE49-F238E27FC236}">
                <a16:creationId xmlns:a16="http://schemas.microsoft.com/office/drawing/2014/main" id="{425A630D-2627-497A-8D45-87C74C9BE999}"/>
              </a:ext>
            </a:extLst>
          </p:cNvPr>
          <p:cNvSpPr>
            <a:spLocks xmlns:a="http://schemas.openxmlformats.org/drawingml/2006/main" noGrp="1"/>
          </p:cNvSpPr>
          <p:nvPr/>
        </p:nvSpPr>
        <p:spPr>
          <a:xfrm xmlns:a="http://schemas.openxmlformats.org/drawingml/2006/main">
            <a:off x="609600" y="449580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0263B"/>
                </a:solidFill>
              </a:defRPr>
            </a:defPPr>
            <a:lvl1pPr>
              <a:defRPr sz="2250" b="0">
                <a:solidFill>
                  <a:srgbClr val="10263B"/>
                </a:solidFill>
              </a:defRPr>
            </a:lvl1pPr>
            <a:lvl2pPr>
              <a:defRPr sz="2250" b="0">
                <a:solidFill>
                  <a:srgbClr val="10263B"/>
                </a:solidFill>
              </a:defRPr>
            </a:lvl2pPr>
            <a:lvl3pPr>
              <a:defRPr sz="2250" b="0">
                <a:solidFill>
                  <a:srgbClr val="10263B"/>
                </a:solidFill>
              </a:defRPr>
            </a:lvl3pPr>
            <a:lvl4pPr>
              <a:defRPr sz="2250" b="0">
                <a:solidFill>
                  <a:srgbClr val="10263B"/>
                </a:solidFill>
              </a:defRPr>
            </a:lvl4pPr>
            <a:lvl5pPr>
              <a:defRPr sz="2250" b="0">
                <a:solidFill>
                  <a:srgbClr val="10263B"/>
                </a:solidFill>
              </a:defRPr>
            </a:lvl5pPr>
            <a:lvl6pPr>
              <a:defRPr sz="2250" b="0">
                <a:solidFill>
                  <a:srgbClr val="10263B"/>
                </a:solidFill>
              </a:defRPr>
            </a:lvl6pPr>
            <a:lvl7pPr>
              <a:defRPr sz="2250" b="0">
                <a:solidFill>
                  <a:srgbClr val="10263B"/>
                </a:solidFill>
              </a:defRPr>
            </a:lvl7pPr>
            <a:lvl8pPr>
              <a:defRPr sz="2250" b="0">
                <a:solidFill>
                  <a:srgbClr val="10263B"/>
                </a:solidFill>
              </a:defRPr>
            </a:lvl8pPr>
            <a:lvl9pPr>
              <a:defRPr sz="2250" b="0">
                <a:solidFill>
                  <a:srgbClr val="10263B"/>
                </a:solidFill>
              </a:defRPr>
            </a:lvl9pPr>
          </a:lstStyle>
          <a:p xmlns:a="http://schemas.openxmlformats.org/drawingml/2006/main">
            <a:pPr>
              <a:defRPr sz="2250" b="0">
                <a:solidFill>
                  <a:srgbClr val="10263B"/>
                </a:solidFill>
              </a:defRPr>
            </a:pPr>
            <a:r>
              <a:rPr sz="2250" b="0">
                <a:solidFill>
                  <a:srgbClr val="10263B"/>
                </a:solidFill>
              </a:rPr>
              <a:t>Evaluate the learned route against a shortest-path baseline</a:t>
            </a:r>
          </a:p>
        </p:txBody>
      </p:sp>
    </p:spTree>
    <p:extLst>
      <p:ext uri="{BB962C8B-B14F-4D97-AF65-F5344CB8AC3E}">
        <p14:creationId xmlns:p14="http://schemas.microsoft.com/office/powerpoint/2010/main" val="411670646"/>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8BCA02B-3285-4F1F-B4A0-678F0B6938B4}"/>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63B"/>
                </a:solidFill>
              </a:defRPr>
            </a:defPPr>
            <a:lvl1pPr>
              <a:defRPr sz="3300" b="1">
                <a:solidFill>
                  <a:srgbClr val="10263B"/>
                </a:solidFill>
              </a:defRPr>
            </a:lvl1pPr>
            <a:lvl2pPr>
              <a:defRPr sz="3300" b="1">
                <a:solidFill>
                  <a:srgbClr val="10263B"/>
                </a:solidFill>
              </a:defRPr>
            </a:lvl2pPr>
            <a:lvl3pPr>
              <a:defRPr sz="3300" b="1">
                <a:solidFill>
                  <a:srgbClr val="10263B"/>
                </a:solidFill>
              </a:defRPr>
            </a:lvl3pPr>
            <a:lvl4pPr>
              <a:defRPr sz="3300" b="1">
                <a:solidFill>
                  <a:srgbClr val="10263B"/>
                </a:solidFill>
              </a:defRPr>
            </a:lvl4pPr>
            <a:lvl5pPr>
              <a:defRPr sz="3300" b="1">
                <a:solidFill>
                  <a:srgbClr val="10263B"/>
                </a:solidFill>
              </a:defRPr>
            </a:lvl5pPr>
            <a:lvl6pPr>
              <a:defRPr sz="3300" b="1">
                <a:solidFill>
                  <a:srgbClr val="10263B"/>
                </a:solidFill>
              </a:defRPr>
            </a:lvl6pPr>
            <a:lvl7pPr>
              <a:defRPr sz="3300" b="1">
                <a:solidFill>
                  <a:srgbClr val="10263B"/>
                </a:solidFill>
              </a:defRPr>
            </a:lvl7pPr>
            <a:lvl8pPr>
              <a:defRPr sz="3300" b="1">
                <a:solidFill>
                  <a:srgbClr val="10263B"/>
                </a:solidFill>
              </a:defRPr>
            </a:lvl8pPr>
            <a:lvl9pPr>
              <a:defRPr sz="3300" b="1">
                <a:solidFill>
                  <a:srgbClr val="10263B"/>
                </a:solidFill>
              </a:defRPr>
            </a:lvl9pPr>
          </a:lstStyle>
          <a:p xmlns:a="http://schemas.openxmlformats.org/drawingml/2006/main">
            <a:pPr>
              <a:defRPr sz="3300" b="1">
                <a:solidFill>
                  <a:srgbClr val="10263B"/>
                </a:solidFill>
              </a:defRPr>
            </a:pPr>
            <a:r>
              <a:rPr sz="3300" b="1">
                <a:solidFill>
                  <a:srgbClr val="10263B"/>
                </a:solidFill>
              </a:rPr>
              <a:t>Environment and rewards</a:t>
            </a:r>
          </a:p>
        </p:txBody>
      </p:sp>
      <p:sp>
        <p:nvSpPr>
          <p:cNvPr id="2" name="">
            <a:extLst xmlns:a="http://schemas.openxmlformats.org/drawingml/2006/main">
              <a:ext uri="{FF2B5EF4-FFF2-40B4-BE49-F238E27FC236}">
                <a16:creationId xmlns:a16="http://schemas.microsoft.com/office/drawing/2014/main" id="{39B25E42-9C66-47F6-A146-ED6657E015A4}"/>
              </a:ext>
            </a:extLst>
          </p:cNvPr>
          <p:cNvSpPr>
            <a:spLocks xmlns:a="http://schemas.openxmlformats.org/drawingml/2006/main" noGrp="1"/>
          </p:cNvSpPr>
          <p:nvPr/>
        </p:nvSpPr>
        <p:spPr>
          <a:xfrm xmlns:a="http://schemas.openxmlformats.org/drawingml/2006/main">
            <a:off x="1123950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86178"/>
                </a:solidFill>
              </a:defRPr>
            </a:defPPr>
            <a:lvl1pPr>
              <a:defRPr sz="1350" b="0">
                <a:solidFill>
                  <a:srgbClr val="486178"/>
                </a:solidFill>
              </a:defRPr>
            </a:lvl1pPr>
            <a:lvl2pPr>
              <a:defRPr sz="1350" b="0">
                <a:solidFill>
                  <a:srgbClr val="486178"/>
                </a:solidFill>
              </a:defRPr>
            </a:lvl2pPr>
            <a:lvl3pPr>
              <a:defRPr sz="1350" b="0">
                <a:solidFill>
                  <a:srgbClr val="486178"/>
                </a:solidFill>
              </a:defRPr>
            </a:lvl3pPr>
            <a:lvl4pPr>
              <a:defRPr sz="1350" b="0">
                <a:solidFill>
                  <a:srgbClr val="486178"/>
                </a:solidFill>
              </a:defRPr>
            </a:lvl4pPr>
            <a:lvl5pPr>
              <a:defRPr sz="1350" b="0">
                <a:solidFill>
                  <a:srgbClr val="486178"/>
                </a:solidFill>
              </a:defRPr>
            </a:lvl5pPr>
            <a:lvl6pPr>
              <a:defRPr sz="1350" b="0">
                <a:solidFill>
                  <a:srgbClr val="486178"/>
                </a:solidFill>
              </a:defRPr>
            </a:lvl6pPr>
            <a:lvl7pPr>
              <a:defRPr sz="1350" b="0">
                <a:solidFill>
                  <a:srgbClr val="486178"/>
                </a:solidFill>
              </a:defRPr>
            </a:lvl7pPr>
            <a:lvl8pPr>
              <a:defRPr sz="1350" b="0">
                <a:solidFill>
                  <a:srgbClr val="486178"/>
                </a:solidFill>
              </a:defRPr>
            </a:lvl8pPr>
            <a:lvl9pPr>
              <a:defRPr sz="1350" b="0">
                <a:solidFill>
                  <a:srgbClr val="486178"/>
                </a:solidFill>
              </a:defRPr>
            </a:lvl9pPr>
          </a:lstStyle>
          <a:p xmlns:a="http://schemas.openxmlformats.org/drawingml/2006/main">
            <a:pPr>
              <a:defRPr sz="1350" b="0">
                <a:solidFill>
                  <a:srgbClr val="486178"/>
                </a:solidFill>
              </a:defRPr>
            </a:pPr>
            <a:r>
              <a:rPr sz="1350" b="0">
                <a:solidFill>
                  <a:srgbClr val="486178"/>
                </a:solidFill>
              </a:rPr>
              <a:t>03</a:t>
            </a:r>
          </a:p>
        </p:txBody>
      </p:sp>
      <p:sp>
        <p:nvSpPr>
          <p:cNvPr id="3" name="">
            <a:extLst xmlns:a="http://schemas.openxmlformats.org/drawingml/2006/main">
              <a:ext uri="{FF2B5EF4-FFF2-40B4-BE49-F238E27FC236}">
                <a16:creationId xmlns:a16="http://schemas.microsoft.com/office/drawing/2014/main" id="{9560CE12-E0D9-4140-8556-8089AD3DEF85}"/>
              </a:ext>
            </a:extLst>
          </p:cNvPr>
          <p:cNvSpPr>
            <a:spLocks xmlns:a="http://schemas.openxmlformats.org/drawingml/2006/main" noGrp="1"/>
          </p:cNvSpPr>
          <p:nvPr/>
        </p:nvSpPr>
        <p:spPr>
          <a:xfrm xmlns:a="http://schemas.openxmlformats.org/drawingml/2006/main">
            <a:off x="609600" y="161925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F8C"/>
                </a:solidFill>
              </a:defRPr>
            </a:defPPr>
            <a:lvl1pPr>
              <a:defRPr sz="2250" b="1">
                <a:solidFill>
                  <a:srgbClr val="087F8C"/>
                </a:solidFill>
              </a:defRPr>
            </a:lvl1pPr>
            <a:lvl2pPr>
              <a:defRPr sz="2250" b="1">
                <a:solidFill>
                  <a:srgbClr val="087F8C"/>
                </a:solidFill>
              </a:defRPr>
            </a:lvl2pPr>
            <a:lvl3pPr>
              <a:defRPr sz="2250" b="1">
                <a:solidFill>
                  <a:srgbClr val="087F8C"/>
                </a:solidFill>
              </a:defRPr>
            </a:lvl3pPr>
            <a:lvl4pPr>
              <a:defRPr sz="2250" b="1">
                <a:solidFill>
                  <a:srgbClr val="087F8C"/>
                </a:solidFill>
              </a:defRPr>
            </a:lvl4pPr>
            <a:lvl5pPr>
              <a:defRPr sz="2250" b="1">
                <a:solidFill>
                  <a:srgbClr val="087F8C"/>
                </a:solidFill>
              </a:defRPr>
            </a:lvl5pPr>
            <a:lvl6pPr>
              <a:defRPr sz="2250" b="1">
                <a:solidFill>
                  <a:srgbClr val="087F8C"/>
                </a:solidFill>
              </a:defRPr>
            </a:lvl6pPr>
            <a:lvl7pPr>
              <a:defRPr sz="2250" b="1">
                <a:solidFill>
                  <a:srgbClr val="087F8C"/>
                </a:solidFill>
              </a:defRPr>
            </a:lvl7pPr>
            <a:lvl8pPr>
              <a:defRPr sz="2250" b="1">
                <a:solidFill>
                  <a:srgbClr val="087F8C"/>
                </a:solidFill>
              </a:defRPr>
            </a:lvl8pPr>
            <a:lvl9pPr>
              <a:defRPr sz="2250" b="1">
                <a:solidFill>
                  <a:srgbClr val="087F8C"/>
                </a:solidFill>
              </a:defRPr>
            </a:lvl9pPr>
          </a:lstStyle>
          <a:p xmlns:a="http://schemas.openxmlformats.org/drawingml/2006/main">
            <a:pPr>
              <a:defRPr sz="2250" b="1">
                <a:solidFill>
                  <a:srgbClr val="087F8C"/>
                </a:solidFill>
              </a:defRPr>
            </a:pPr>
            <a:r>
              <a:rPr sz="2250" b="1">
                <a:solidFill>
                  <a:srgbClr val="087F8C"/>
                </a:solidFill>
              </a:rPr>
              <a:t>6 × 6 grid with four actions</a:t>
            </a:r>
          </a:p>
        </p:txBody>
      </p:sp>
      <p:graphicFrame>
        <p:nvGraphicFramePr>
          <p:cNvPr id="4" name="">
            <a:extLst xmlns:a="http://schemas.openxmlformats.org/drawingml/2006/main">
              <a:ext uri="{FF2B5EF4-FFF2-40B4-BE49-F238E27FC236}">
                <a16:creationId xmlns:a16="http://schemas.microsoft.com/office/drawing/2014/main" id="{54164412-1902-49E9-93A6-CA26F0090F2F}"/>
              </a:ext>
            </a:extLst>
          </p:cNvPr>
          <p:cNvGraphicFramePr/>
          <p:nvPr/>
        </p:nvGraphicFramePr>
        <p:xfrm>
          <a:off xmlns:a="http://schemas.openxmlformats.org/drawingml/2006/main" x="609600" y="2524125"/>
          <a:ext xmlns:a="http://schemas.openxmlformats.org/drawingml/2006/main" cx="10972800" cy="2571750"/>
        </p:xfrm>
        <a:graphic xmlns:a="http://schemas.openxmlformats.org/drawingml/2006/main">
          <a:graphicData uri="http://schemas.openxmlformats.org/drawingml/2006/table">
            <a:tbl>
              <a:tblPr/>
              <a:tblGrid>
                <a:gridCol w="4095750"/>
                <a:gridCol w="1714500"/>
                <a:gridCol w="5162550"/>
              </a:tblGrid>
              <a:tr h="642938">
                <a:tc>
                  <a:txBody>
                    <a:bodyPr/>
                    <a:lstStyle/>
                    <a:p>
                      <a:r>
                        <a:rPr sz="1875" b="1">
                          <a:solidFill>
                            <a:srgbClr val="FFFFFF"/>
                          </a:solidFill>
                        </a:rPr>
                        <a:t>Event</a:t>
                      </a:r>
                    </a:p>
                  </a:txBody>
                  <a:tcPr marL="91440" marR="91440" marT="45720" marB="45720">
                    <a:solidFill>
                      <a:srgbClr val="10263B"/>
                    </a:solidFill>
                  </a:tcPr>
                </a:tc>
                <a:tc>
                  <a:txBody>
                    <a:bodyPr/>
                    <a:lstStyle/>
                    <a:p>
                      <a:r>
                        <a:rPr sz="1875" b="1">
                          <a:solidFill>
                            <a:srgbClr val="FFFFFF"/>
                          </a:solidFill>
                        </a:rPr>
                        <a:t>Reward</a:t>
                      </a:r>
                    </a:p>
                  </a:txBody>
                  <a:tcPr marL="91440" marR="91440" marT="45720" marB="45720">
                    <a:solidFill>
                      <a:srgbClr val="10263B"/>
                    </a:solidFill>
                  </a:tcPr>
                </a:tc>
                <a:tc>
                  <a:txBody>
                    <a:bodyPr/>
                    <a:lstStyle/>
                    <a:p>
                      <a:r>
                        <a:rPr sz="1875" b="1">
                          <a:solidFill>
                            <a:srgbClr val="FFFFFF"/>
                          </a:solidFill>
                        </a:rPr>
                        <a:t>Outcome</a:t>
                      </a:r>
                    </a:p>
                  </a:txBody>
                  <a:tcPr marL="91440" marR="91440" marT="45720" marB="45720">
                    <a:solidFill>
                      <a:srgbClr val="10263B"/>
                    </a:solidFill>
                  </a:tcPr>
                </a:tc>
              </a:tr>
              <a:tr h="642938">
                <a:tc>
                  <a:txBody>
                    <a:bodyPr/>
                    <a:lstStyle/>
                    <a:p>
                      <a:r>
                        <a:rPr sz="1875" b="0">
                          <a:solidFill>
                            <a:srgbClr val="10263B"/>
                          </a:solidFill>
                        </a:rPr>
                        <a:t>Open-cell move</a:t>
                      </a:r>
                    </a:p>
                  </a:txBody>
                  <a:tcPr marL="91440" marR="91440" marT="45720" marB="45720">
                    <a:solidFill>
                      <a:srgbClr val="EAF1F5"/>
                    </a:solidFill>
                  </a:tcPr>
                </a:tc>
                <a:tc>
                  <a:txBody>
                    <a:bodyPr/>
                    <a:lstStyle/>
                    <a:p>
                      <a:r>
                        <a:rPr sz="1875" b="0">
                          <a:solidFill>
                            <a:srgbClr val="10263B"/>
                          </a:solidFill>
                        </a:rPr>
                        <a:t>−1</a:t>
                      </a:r>
                    </a:p>
                  </a:txBody>
                  <a:tcPr marL="91440" marR="91440" marT="45720" marB="45720">
                    <a:solidFill>
                      <a:srgbClr val="EAF1F5"/>
                    </a:solidFill>
                  </a:tcPr>
                </a:tc>
                <a:tc>
                  <a:txBody>
                    <a:bodyPr/>
                    <a:lstStyle/>
                    <a:p>
                      <a:r>
                        <a:rPr sz="1875" b="0">
                          <a:solidFill>
                            <a:srgbClr val="10263B"/>
                          </a:solidFill>
                        </a:rPr>
                        <a:t>Move to next cell</a:t>
                      </a:r>
                    </a:p>
                  </a:txBody>
                  <a:tcPr marL="91440" marR="91440" marT="45720" marB="45720">
                    <a:solidFill>
                      <a:srgbClr val="EAF1F5"/>
                    </a:solidFill>
                  </a:tcPr>
                </a:tc>
              </a:tr>
              <a:tr h="642938">
                <a:tc>
                  <a:txBody>
                    <a:bodyPr/>
                    <a:lstStyle/>
                    <a:p>
                      <a:r>
                        <a:rPr sz="1875" b="0">
                          <a:solidFill>
                            <a:srgbClr val="10263B"/>
                          </a:solidFill>
                        </a:rPr>
                        <a:t>Wall or obstacle</a:t>
                      </a:r>
                    </a:p>
                  </a:txBody>
                  <a:tcPr marL="91440" marR="91440" marT="45720" marB="45720">
                    <a:solidFill>
                      <a:srgbClr val="FFFFFF"/>
                    </a:solidFill>
                  </a:tcPr>
                </a:tc>
                <a:tc>
                  <a:txBody>
                    <a:bodyPr/>
                    <a:lstStyle/>
                    <a:p>
                      <a:r>
                        <a:rPr sz="1875" b="0">
                          <a:solidFill>
                            <a:srgbClr val="10263B"/>
                          </a:solidFill>
                        </a:rPr>
                        <a:t>−5</a:t>
                      </a:r>
                    </a:p>
                  </a:txBody>
                  <a:tcPr marL="91440" marR="91440" marT="45720" marB="45720">
                    <a:solidFill>
                      <a:srgbClr val="FFFFFF"/>
                    </a:solidFill>
                  </a:tcPr>
                </a:tc>
                <a:tc>
                  <a:txBody>
                    <a:bodyPr/>
                    <a:lstStyle/>
                    <a:p>
                      <a:r>
                        <a:rPr sz="1875" b="0">
                          <a:solidFill>
                            <a:srgbClr val="10263B"/>
                          </a:solidFill>
                        </a:rPr>
                        <a:t>Stay in current cell</a:t>
                      </a:r>
                    </a:p>
                  </a:txBody>
                  <a:tcPr marL="91440" marR="91440" marT="45720" marB="45720">
                    <a:solidFill>
                      <a:srgbClr val="FFFFFF"/>
                    </a:solidFill>
                  </a:tcPr>
                </a:tc>
              </a:tr>
              <a:tr h="642938">
                <a:tc>
                  <a:txBody>
                    <a:bodyPr/>
                    <a:lstStyle/>
                    <a:p>
                      <a:r>
                        <a:rPr sz="1875" b="0">
                          <a:solidFill>
                            <a:srgbClr val="10263B"/>
                          </a:solidFill>
                        </a:rPr>
                        <a:t>Goal reached</a:t>
                      </a:r>
                    </a:p>
                  </a:txBody>
                  <a:tcPr marL="91440" marR="91440" marT="45720" marB="45720">
                    <a:solidFill>
                      <a:srgbClr val="EAF1F5"/>
                    </a:solidFill>
                  </a:tcPr>
                </a:tc>
                <a:tc>
                  <a:txBody>
                    <a:bodyPr/>
                    <a:lstStyle/>
                    <a:p>
                      <a:r>
                        <a:rPr sz="1875" b="0">
                          <a:solidFill>
                            <a:srgbClr val="10263B"/>
                          </a:solidFill>
                        </a:rPr>
                        <a:t>+100</a:t>
                      </a:r>
                    </a:p>
                  </a:txBody>
                  <a:tcPr marL="91440" marR="91440" marT="45720" marB="45720">
                    <a:solidFill>
                      <a:srgbClr val="EAF1F5"/>
                    </a:solidFill>
                  </a:tcPr>
                </a:tc>
                <a:tc>
                  <a:txBody>
                    <a:bodyPr/>
                    <a:lstStyle/>
                    <a:p>
                      <a:r>
                        <a:rPr sz="1875" b="0">
                          <a:solidFill>
                            <a:srgbClr val="10263B"/>
                          </a:solidFill>
                        </a:rPr>
                        <a:t>End episode</a:t>
                      </a:r>
                    </a:p>
                  </a:txBody>
                  <a:tcPr marL="91440" marR="91440" marT="45720" marB="45720">
                    <a:solidFill>
                      <a:srgbClr val="EAF1F5"/>
                    </a:solidFill>
                  </a:tcPr>
                </a:tc>
              </a:tr>
            </a:tbl>
          </a:graphicData>
        </a:graphic>
      </p:graphicFrame>
      <p:sp>
        <p:nvSpPr>
          <p:cNvPr id="5" name="">
            <a:extLst xmlns:a="http://schemas.openxmlformats.org/drawingml/2006/main">
              <a:ext uri="{FF2B5EF4-FFF2-40B4-BE49-F238E27FC236}">
                <a16:creationId xmlns:a16="http://schemas.microsoft.com/office/drawing/2014/main" id="{FCC22220-6006-41A5-BD39-41B2FD0D0269}"/>
              </a:ext>
            </a:extLst>
          </p:cNvPr>
          <p:cNvSpPr>
            <a:spLocks xmlns:a="http://schemas.openxmlformats.org/drawingml/2006/main" noGrp="1"/>
          </p:cNvSpPr>
          <p:nvPr/>
        </p:nvSpPr>
        <p:spPr>
          <a:xfrm xmlns:a="http://schemas.openxmlformats.org/drawingml/2006/main">
            <a:off x="609600" y="551497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0263B"/>
                </a:solidFill>
              </a:defRPr>
            </a:defPPr>
            <a:lvl1pPr>
              <a:defRPr sz="2025" b="0">
                <a:solidFill>
                  <a:srgbClr val="10263B"/>
                </a:solidFill>
              </a:defRPr>
            </a:lvl1pPr>
            <a:lvl2pPr>
              <a:defRPr sz="2025" b="0">
                <a:solidFill>
                  <a:srgbClr val="10263B"/>
                </a:solidFill>
              </a:defRPr>
            </a:lvl2pPr>
            <a:lvl3pPr>
              <a:defRPr sz="2025" b="0">
                <a:solidFill>
                  <a:srgbClr val="10263B"/>
                </a:solidFill>
              </a:defRPr>
            </a:lvl3pPr>
            <a:lvl4pPr>
              <a:defRPr sz="2025" b="0">
                <a:solidFill>
                  <a:srgbClr val="10263B"/>
                </a:solidFill>
              </a:defRPr>
            </a:lvl4pPr>
            <a:lvl5pPr>
              <a:defRPr sz="2025" b="0">
                <a:solidFill>
                  <a:srgbClr val="10263B"/>
                </a:solidFill>
              </a:defRPr>
            </a:lvl5pPr>
            <a:lvl6pPr>
              <a:defRPr sz="2025" b="0">
                <a:solidFill>
                  <a:srgbClr val="10263B"/>
                </a:solidFill>
              </a:defRPr>
            </a:lvl6pPr>
            <a:lvl7pPr>
              <a:defRPr sz="2025" b="0">
                <a:solidFill>
                  <a:srgbClr val="10263B"/>
                </a:solidFill>
              </a:defRPr>
            </a:lvl7pPr>
            <a:lvl8pPr>
              <a:defRPr sz="2025" b="0">
                <a:solidFill>
                  <a:srgbClr val="10263B"/>
                </a:solidFill>
              </a:defRPr>
            </a:lvl8pPr>
            <a:lvl9pPr>
              <a:defRPr sz="2025" b="0">
                <a:solidFill>
                  <a:srgbClr val="10263B"/>
                </a:solidFill>
              </a:defRPr>
            </a:lvl9pPr>
          </a:lstStyle>
          <a:p xmlns:a="http://schemas.openxmlformats.org/drawingml/2006/main">
            <a:pPr>
              <a:defRPr sz="2025" b="0">
                <a:solidFill>
                  <a:srgbClr val="10263B"/>
                </a:solidFill>
              </a:defRPr>
            </a:pPr>
            <a:r>
              <a:rPr sz="2025" b="0">
                <a:solidFill>
                  <a:srgbClr val="10263B"/>
                </a:solidFill>
              </a:rPr>
              <a:t>Actions: up, right, down, left. Each episode allows 200 actions.</a:t>
            </a:r>
          </a:p>
        </p:txBody>
      </p:sp>
    </p:spTree>
    <p:extLst>
      <p:ext uri="{BB962C8B-B14F-4D97-AF65-F5344CB8AC3E}">
        <p14:creationId xmlns:p14="http://schemas.microsoft.com/office/powerpoint/2010/main" val="1355884846"/>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A5FD36E-2E98-4FD2-B2E2-87ACCB34670E}"/>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63B"/>
                </a:solidFill>
              </a:defRPr>
            </a:defPPr>
            <a:lvl1pPr>
              <a:defRPr sz="3300" b="1">
                <a:solidFill>
                  <a:srgbClr val="10263B"/>
                </a:solidFill>
              </a:defRPr>
            </a:lvl1pPr>
            <a:lvl2pPr>
              <a:defRPr sz="3300" b="1">
                <a:solidFill>
                  <a:srgbClr val="10263B"/>
                </a:solidFill>
              </a:defRPr>
            </a:lvl2pPr>
            <a:lvl3pPr>
              <a:defRPr sz="3300" b="1">
                <a:solidFill>
                  <a:srgbClr val="10263B"/>
                </a:solidFill>
              </a:defRPr>
            </a:lvl3pPr>
            <a:lvl4pPr>
              <a:defRPr sz="3300" b="1">
                <a:solidFill>
                  <a:srgbClr val="10263B"/>
                </a:solidFill>
              </a:defRPr>
            </a:lvl4pPr>
            <a:lvl5pPr>
              <a:defRPr sz="3300" b="1">
                <a:solidFill>
                  <a:srgbClr val="10263B"/>
                </a:solidFill>
              </a:defRPr>
            </a:lvl5pPr>
            <a:lvl6pPr>
              <a:defRPr sz="3300" b="1">
                <a:solidFill>
                  <a:srgbClr val="10263B"/>
                </a:solidFill>
              </a:defRPr>
            </a:lvl6pPr>
            <a:lvl7pPr>
              <a:defRPr sz="3300" b="1">
                <a:solidFill>
                  <a:srgbClr val="10263B"/>
                </a:solidFill>
              </a:defRPr>
            </a:lvl7pPr>
            <a:lvl8pPr>
              <a:defRPr sz="3300" b="1">
                <a:solidFill>
                  <a:srgbClr val="10263B"/>
                </a:solidFill>
              </a:defRPr>
            </a:lvl8pPr>
            <a:lvl9pPr>
              <a:defRPr sz="3300" b="1">
                <a:solidFill>
                  <a:srgbClr val="10263B"/>
                </a:solidFill>
              </a:defRPr>
            </a:lvl9pPr>
          </a:lstStyle>
          <a:p xmlns:a="http://schemas.openxmlformats.org/drawingml/2006/main">
            <a:pPr>
              <a:defRPr sz="3300" b="1">
                <a:solidFill>
                  <a:srgbClr val="10263B"/>
                </a:solidFill>
              </a:defRPr>
            </a:pPr>
            <a:r>
              <a:rPr sz="3300" b="1">
                <a:solidFill>
                  <a:srgbClr val="10263B"/>
                </a:solidFill>
              </a:rPr>
              <a:t>How Q-learning updates action values</a:t>
            </a:r>
          </a:p>
        </p:txBody>
      </p:sp>
      <p:sp>
        <p:nvSpPr>
          <p:cNvPr id="2" name="">
            <a:extLst xmlns:a="http://schemas.openxmlformats.org/drawingml/2006/main">
              <a:ext uri="{FF2B5EF4-FFF2-40B4-BE49-F238E27FC236}">
                <a16:creationId xmlns:a16="http://schemas.microsoft.com/office/drawing/2014/main" id="{772EC22C-1C91-45F5-9079-D26A61C1DBB8}"/>
              </a:ext>
            </a:extLst>
          </p:cNvPr>
          <p:cNvSpPr>
            <a:spLocks xmlns:a="http://schemas.openxmlformats.org/drawingml/2006/main" noGrp="1"/>
          </p:cNvSpPr>
          <p:nvPr/>
        </p:nvSpPr>
        <p:spPr>
          <a:xfrm xmlns:a="http://schemas.openxmlformats.org/drawingml/2006/main">
            <a:off x="1123950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86178"/>
                </a:solidFill>
              </a:defRPr>
            </a:defPPr>
            <a:lvl1pPr>
              <a:defRPr sz="1350" b="0">
                <a:solidFill>
                  <a:srgbClr val="486178"/>
                </a:solidFill>
              </a:defRPr>
            </a:lvl1pPr>
            <a:lvl2pPr>
              <a:defRPr sz="1350" b="0">
                <a:solidFill>
                  <a:srgbClr val="486178"/>
                </a:solidFill>
              </a:defRPr>
            </a:lvl2pPr>
            <a:lvl3pPr>
              <a:defRPr sz="1350" b="0">
                <a:solidFill>
                  <a:srgbClr val="486178"/>
                </a:solidFill>
              </a:defRPr>
            </a:lvl3pPr>
            <a:lvl4pPr>
              <a:defRPr sz="1350" b="0">
                <a:solidFill>
                  <a:srgbClr val="486178"/>
                </a:solidFill>
              </a:defRPr>
            </a:lvl4pPr>
            <a:lvl5pPr>
              <a:defRPr sz="1350" b="0">
                <a:solidFill>
                  <a:srgbClr val="486178"/>
                </a:solidFill>
              </a:defRPr>
            </a:lvl5pPr>
            <a:lvl6pPr>
              <a:defRPr sz="1350" b="0">
                <a:solidFill>
                  <a:srgbClr val="486178"/>
                </a:solidFill>
              </a:defRPr>
            </a:lvl6pPr>
            <a:lvl7pPr>
              <a:defRPr sz="1350" b="0">
                <a:solidFill>
                  <a:srgbClr val="486178"/>
                </a:solidFill>
              </a:defRPr>
            </a:lvl7pPr>
            <a:lvl8pPr>
              <a:defRPr sz="1350" b="0">
                <a:solidFill>
                  <a:srgbClr val="486178"/>
                </a:solidFill>
              </a:defRPr>
            </a:lvl8pPr>
            <a:lvl9pPr>
              <a:defRPr sz="1350" b="0">
                <a:solidFill>
                  <a:srgbClr val="486178"/>
                </a:solidFill>
              </a:defRPr>
            </a:lvl9pPr>
          </a:lstStyle>
          <a:p xmlns:a="http://schemas.openxmlformats.org/drawingml/2006/main">
            <a:pPr>
              <a:defRPr sz="1350" b="0">
                <a:solidFill>
                  <a:srgbClr val="486178"/>
                </a:solidFill>
              </a:defRPr>
            </a:pPr>
            <a:r>
              <a:rPr sz="1350" b="0">
                <a:solidFill>
                  <a:srgbClr val="486178"/>
                </a:solidFill>
              </a:rPr>
              <a:t>04</a:t>
            </a:r>
          </a:p>
        </p:txBody>
      </p:sp>
      <p:sp>
        <p:nvSpPr>
          <p:cNvPr id="3" name="">
            <a:extLst xmlns:a="http://schemas.openxmlformats.org/drawingml/2006/main">
              <a:ext uri="{FF2B5EF4-FFF2-40B4-BE49-F238E27FC236}">
                <a16:creationId xmlns:a16="http://schemas.microsoft.com/office/drawing/2014/main" id="{492E8487-3F39-48F8-8F6F-A8469F58FDAD}"/>
              </a:ext>
            </a:extLst>
          </p:cNvPr>
          <p:cNvSpPr>
            <a:spLocks xmlns:a="http://schemas.openxmlformats.org/drawingml/2006/main" noGrp="1"/>
          </p:cNvSpPr>
          <p:nvPr/>
        </p:nvSpPr>
        <p:spPr>
          <a:xfrm xmlns:a="http://schemas.openxmlformats.org/drawingml/2006/main">
            <a:off x="609600" y="18097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087F8C"/>
                </a:solidFill>
              </a:defRPr>
            </a:defPPr>
            <a:lvl1pPr>
              <a:defRPr sz="3000" b="1">
                <a:solidFill>
                  <a:srgbClr val="087F8C"/>
                </a:solidFill>
              </a:defRPr>
            </a:lvl1pPr>
            <a:lvl2pPr>
              <a:defRPr sz="3000" b="1">
                <a:solidFill>
                  <a:srgbClr val="087F8C"/>
                </a:solidFill>
              </a:defRPr>
            </a:lvl2pPr>
            <a:lvl3pPr>
              <a:defRPr sz="3000" b="1">
                <a:solidFill>
                  <a:srgbClr val="087F8C"/>
                </a:solidFill>
              </a:defRPr>
            </a:lvl3pPr>
            <a:lvl4pPr>
              <a:defRPr sz="3000" b="1">
                <a:solidFill>
                  <a:srgbClr val="087F8C"/>
                </a:solidFill>
              </a:defRPr>
            </a:lvl4pPr>
            <a:lvl5pPr>
              <a:defRPr sz="3000" b="1">
                <a:solidFill>
                  <a:srgbClr val="087F8C"/>
                </a:solidFill>
              </a:defRPr>
            </a:lvl5pPr>
            <a:lvl6pPr>
              <a:defRPr sz="3000" b="1">
                <a:solidFill>
                  <a:srgbClr val="087F8C"/>
                </a:solidFill>
              </a:defRPr>
            </a:lvl6pPr>
            <a:lvl7pPr>
              <a:defRPr sz="3000" b="1">
                <a:solidFill>
                  <a:srgbClr val="087F8C"/>
                </a:solidFill>
              </a:defRPr>
            </a:lvl7pPr>
            <a:lvl8pPr>
              <a:defRPr sz="3000" b="1">
                <a:solidFill>
                  <a:srgbClr val="087F8C"/>
                </a:solidFill>
              </a:defRPr>
            </a:lvl8pPr>
            <a:lvl9pPr>
              <a:defRPr sz="3000" b="1">
                <a:solidFill>
                  <a:srgbClr val="087F8C"/>
                </a:solidFill>
              </a:defRPr>
            </a:lvl9pPr>
          </a:lstStyle>
          <a:p xmlns:a="http://schemas.openxmlformats.org/drawingml/2006/main">
            <a:pPr>
              <a:defRPr sz="3000" b="1">
                <a:solidFill>
                  <a:srgbClr val="087F8C"/>
                </a:solidFill>
              </a:defRPr>
            </a:pPr>
            <a:r>
              <a:rPr sz="3000" b="1">
                <a:solidFill>
                  <a:srgbClr val="087F8C"/>
                </a:solidFill>
              </a:rPr>
              <a:t>Q(s,a) ← Q(s,a) + α [target − Q(s,a)]</a:t>
            </a:r>
          </a:p>
        </p:txBody>
      </p:sp>
      <p:sp>
        <p:nvSpPr>
          <p:cNvPr id="4" name="">
            <a:extLst xmlns:a="http://schemas.openxmlformats.org/drawingml/2006/main">
              <a:ext uri="{FF2B5EF4-FFF2-40B4-BE49-F238E27FC236}">
                <a16:creationId xmlns:a16="http://schemas.microsoft.com/office/drawing/2014/main" id="{A1A7E488-772B-49B9-851C-81D25C32CAED}"/>
              </a:ext>
            </a:extLst>
          </p:cNvPr>
          <p:cNvSpPr>
            <a:spLocks xmlns:a="http://schemas.openxmlformats.org/drawingml/2006/main" noGrp="1"/>
          </p:cNvSpPr>
          <p:nvPr/>
        </p:nvSpPr>
        <p:spPr>
          <a:xfrm xmlns:a="http://schemas.openxmlformats.org/drawingml/2006/main">
            <a:off x="609600" y="309562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0263B"/>
                </a:solidFill>
              </a:defRPr>
            </a:defPPr>
            <a:lvl1pPr>
              <a:defRPr sz="2175" b="0">
                <a:solidFill>
                  <a:srgbClr val="10263B"/>
                </a:solidFill>
              </a:defRPr>
            </a:lvl1pPr>
            <a:lvl2pPr>
              <a:defRPr sz="2175" b="0">
                <a:solidFill>
                  <a:srgbClr val="10263B"/>
                </a:solidFill>
              </a:defRPr>
            </a:lvl2pPr>
            <a:lvl3pPr>
              <a:defRPr sz="2175" b="0">
                <a:solidFill>
                  <a:srgbClr val="10263B"/>
                </a:solidFill>
              </a:defRPr>
            </a:lvl3pPr>
            <a:lvl4pPr>
              <a:defRPr sz="2175" b="0">
                <a:solidFill>
                  <a:srgbClr val="10263B"/>
                </a:solidFill>
              </a:defRPr>
            </a:lvl4pPr>
            <a:lvl5pPr>
              <a:defRPr sz="2175" b="0">
                <a:solidFill>
                  <a:srgbClr val="10263B"/>
                </a:solidFill>
              </a:defRPr>
            </a:lvl5pPr>
            <a:lvl6pPr>
              <a:defRPr sz="2175" b="0">
                <a:solidFill>
                  <a:srgbClr val="10263B"/>
                </a:solidFill>
              </a:defRPr>
            </a:lvl6pPr>
            <a:lvl7pPr>
              <a:defRPr sz="2175" b="0">
                <a:solidFill>
                  <a:srgbClr val="10263B"/>
                </a:solidFill>
              </a:defRPr>
            </a:lvl7pPr>
            <a:lvl8pPr>
              <a:defRPr sz="2175" b="0">
                <a:solidFill>
                  <a:srgbClr val="10263B"/>
                </a:solidFill>
              </a:defRPr>
            </a:lvl8pPr>
            <a:lvl9pPr>
              <a:defRPr sz="2175" b="0">
                <a:solidFill>
                  <a:srgbClr val="10263B"/>
                </a:solidFill>
              </a:defRPr>
            </a:lvl9pPr>
          </a:lstStyle>
          <a:p xmlns:a="http://schemas.openxmlformats.org/drawingml/2006/main">
            <a:pPr>
              <a:defRPr sz="2175" b="0">
                <a:solidFill>
                  <a:srgbClr val="10263B"/>
                </a:solidFill>
              </a:defRPr>
            </a:pPr>
            <a:r>
              <a:rPr sz="2175" b="0">
                <a:solidFill>
                  <a:srgbClr val="10263B"/>
                </a:solidFill>
              </a:rPr>
              <a:t>Ordinary move: target = r + γ max Q(s′, a′)</a:t>
            </a:r>
          </a:p>
        </p:txBody>
      </p:sp>
      <p:sp>
        <p:nvSpPr>
          <p:cNvPr id="5" name="">
            <a:extLst xmlns:a="http://schemas.openxmlformats.org/drawingml/2006/main">
              <a:ext uri="{FF2B5EF4-FFF2-40B4-BE49-F238E27FC236}">
                <a16:creationId xmlns:a16="http://schemas.microsoft.com/office/drawing/2014/main" id="{51B90FD8-B4D5-48E7-B5DA-1152267412F5}"/>
              </a:ext>
            </a:extLst>
          </p:cNvPr>
          <p:cNvSpPr>
            <a:spLocks xmlns:a="http://schemas.openxmlformats.org/drawingml/2006/main" noGrp="1"/>
          </p:cNvSpPr>
          <p:nvPr/>
        </p:nvSpPr>
        <p:spPr>
          <a:xfrm xmlns:a="http://schemas.openxmlformats.org/drawingml/2006/main">
            <a:off x="609600" y="400050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0263B"/>
                </a:solidFill>
              </a:defRPr>
            </a:defPPr>
            <a:lvl1pPr>
              <a:defRPr sz="2175" b="0">
                <a:solidFill>
                  <a:srgbClr val="10263B"/>
                </a:solidFill>
              </a:defRPr>
            </a:lvl1pPr>
            <a:lvl2pPr>
              <a:defRPr sz="2175" b="0">
                <a:solidFill>
                  <a:srgbClr val="10263B"/>
                </a:solidFill>
              </a:defRPr>
            </a:lvl2pPr>
            <a:lvl3pPr>
              <a:defRPr sz="2175" b="0">
                <a:solidFill>
                  <a:srgbClr val="10263B"/>
                </a:solidFill>
              </a:defRPr>
            </a:lvl3pPr>
            <a:lvl4pPr>
              <a:defRPr sz="2175" b="0">
                <a:solidFill>
                  <a:srgbClr val="10263B"/>
                </a:solidFill>
              </a:defRPr>
            </a:lvl4pPr>
            <a:lvl5pPr>
              <a:defRPr sz="2175" b="0">
                <a:solidFill>
                  <a:srgbClr val="10263B"/>
                </a:solidFill>
              </a:defRPr>
            </a:lvl5pPr>
            <a:lvl6pPr>
              <a:defRPr sz="2175" b="0">
                <a:solidFill>
                  <a:srgbClr val="10263B"/>
                </a:solidFill>
              </a:defRPr>
            </a:lvl6pPr>
            <a:lvl7pPr>
              <a:defRPr sz="2175" b="0">
                <a:solidFill>
                  <a:srgbClr val="10263B"/>
                </a:solidFill>
              </a:defRPr>
            </a:lvl7pPr>
            <a:lvl8pPr>
              <a:defRPr sz="2175" b="0">
                <a:solidFill>
                  <a:srgbClr val="10263B"/>
                </a:solidFill>
              </a:defRPr>
            </a:lvl8pPr>
            <a:lvl9pPr>
              <a:defRPr sz="2175" b="0">
                <a:solidFill>
                  <a:srgbClr val="10263B"/>
                </a:solidFill>
              </a:defRPr>
            </a:lvl9pPr>
          </a:lstStyle>
          <a:p xmlns:a="http://schemas.openxmlformats.org/drawingml/2006/main">
            <a:pPr>
              <a:defRPr sz="2175" b="0">
                <a:solidFill>
                  <a:srgbClr val="10263B"/>
                </a:solidFill>
              </a:defRPr>
            </a:pPr>
            <a:r>
              <a:rPr sz="2175" b="0">
                <a:solidFill>
                  <a:srgbClr val="10263B"/>
                </a:solidFill>
              </a:rPr>
              <a:t>Goal reached: target = r</a:t>
            </a:r>
          </a:p>
        </p:txBody>
      </p:sp>
      <p:sp>
        <p:nvSpPr>
          <p:cNvPr id="6" name="">
            <a:extLst xmlns:a="http://schemas.openxmlformats.org/drawingml/2006/main">
              <a:ext uri="{FF2B5EF4-FFF2-40B4-BE49-F238E27FC236}">
                <a16:creationId xmlns:a16="http://schemas.microsoft.com/office/drawing/2014/main" id="{F2377D9B-3C9A-480F-98EC-67CF7203E280}"/>
              </a:ext>
            </a:extLst>
          </p:cNvPr>
          <p:cNvSpPr>
            <a:spLocks xmlns:a="http://schemas.openxmlformats.org/drawingml/2006/main" noGrp="1"/>
          </p:cNvSpPr>
          <p:nvPr/>
        </p:nvSpPr>
        <p:spPr>
          <a:xfrm xmlns:a="http://schemas.openxmlformats.org/drawingml/2006/main">
            <a:off x="609600" y="49053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0263B"/>
                </a:solidFill>
              </a:defRPr>
            </a:defPPr>
            <a:lvl1pPr>
              <a:defRPr sz="2175" b="0">
                <a:solidFill>
                  <a:srgbClr val="10263B"/>
                </a:solidFill>
              </a:defRPr>
            </a:lvl1pPr>
            <a:lvl2pPr>
              <a:defRPr sz="2175" b="0">
                <a:solidFill>
                  <a:srgbClr val="10263B"/>
                </a:solidFill>
              </a:defRPr>
            </a:lvl2pPr>
            <a:lvl3pPr>
              <a:defRPr sz="2175" b="0">
                <a:solidFill>
                  <a:srgbClr val="10263B"/>
                </a:solidFill>
              </a:defRPr>
            </a:lvl3pPr>
            <a:lvl4pPr>
              <a:defRPr sz="2175" b="0">
                <a:solidFill>
                  <a:srgbClr val="10263B"/>
                </a:solidFill>
              </a:defRPr>
            </a:lvl4pPr>
            <a:lvl5pPr>
              <a:defRPr sz="2175" b="0">
                <a:solidFill>
                  <a:srgbClr val="10263B"/>
                </a:solidFill>
              </a:defRPr>
            </a:lvl5pPr>
            <a:lvl6pPr>
              <a:defRPr sz="2175" b="0">
                <a:solidFill>
                  <a:srgbClr val="10263B"/>
                </a:solidFill>
              </a:defRPr>
            </a:lvl6pPr>
            <a:lvl7pPr>
              <a:defRPr sz="2175" b="0">
                <a:solidFill>
                  <a:srgbClr val="10263B"/>
                </a:solidFill>
              </a:defRPr>
            </a:lvl7pPr>
            <a:lvl8pPr>
              <a:defRPr sz="2175" b="0">
                <a:solidFill>
                  <a:srgbClr val="10263B"/>
                </a:solidFill>
              </a:defRPr>
            </a:lvl8pPr>
            <a:lvl9pPr>
              <a:defRPr sz="2175" b="0">
                <a:solidFill>
                  <a:srgbClr val="10263B"/>
                </a:solidFill>
              </a:defRPr>
            </a:lvl9pPr>
          </a:lstStyle>
          <a:p xmlns:a="http://schemas.openxmlformats.org/drawingml/2006/main">
            <a:pPr>
              <a:defRPr sz="2175" b="0">
                <a:solidFill>
                  <a:srgbClr val="10263B"/>
                </a:solidFill>
              </a:defRPr>
            </a:pPr>
            <a:r>
              <a:rPr sz="2175" b="0">
                <a:solidFill>
                  <a:srgbClr val="10263B"/>
                </a:solidFill>
              </a:rPr>
              <a:t>α controls learning speed. γ discounts future rewards.</a:t>
            </a:r>
          </a:p>
        </p:txBody>
      </p:sp>
    </p:spTree>
    <p:extLst>
      <p:ext uri="{BB962C8B-B14F-4D97-AF65-F5344CB8AC3E}">
        <p14:creationId xmlns:p14="http://schemas.microsoft.com/office/powerpoint/2010/main" val="1909249650"/>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C65B779-F71E-4586-A978-8B913CA36615}"/>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63B"/>
                </a:solidFill>
              </a:defRPr>
            </a:defPPr>
            <a:lvl1pPr>
              <a:defRPr sz="3300" b="1">
                <a:solidFill>
                  <a:srgbClr val="10263B"/>
                </a:solidFill>
              </a:defRPr>
            </a:lvl1pPr>
            <a:lvl2pPr>
              <a:defRPr sz="3300" b="1">
                <a:solidFill>
                  <a:srgbClr val="10263B"/>
                </a:solidFill>
              </a:defRPr>
            </a:lvl2pPr>
            <a:lvl3pPr>
              <a:defRPr sz="3300" b="1">
                <a:solidFill>
                  <a:srgbClr val="10263B"/>
                </a:solidFill>
              </a:defRPr>
            </a:lvl3pPr>
            <a:lvl4pPr>
              <a:defRPr sz="3300" b="1">
                <a:solidFill>
                  <a:srgbClr val="10263B"/>
                </a:solidFill>
              </a:defRPr>
            </a:lvl4pPr>
            <a:lvl5pPr>
              <a:defRPr sz="3300" b="1">
                <a:solidFill>
                  <a:srgbClr val="10263B"/>
                </a:solidFill>
              </a:defRPr>
            </a:lvl5pPr>
            <a:lvl6pPr>
              <a:defRPr sz="3300" b="1">
                <a:solidFill>
                  <a:srgbClr val="10263B"/>
                </a:solidFill>
              </a:defRPr>
            </a:lvl6pPr>
            <a:lvl7pPr>
              <a:defRPr sz="3300" b="1">
                <a:solidFill>
                  <a:srgbClr val="10263B"/>
                </a:solidFill>
              </a:defRPr>
            </a:lvl7pPr>
            <a:lvl8pPr>
              <a:defRPr sz="3300" b="1">
                <a:solidFill>
                  <a:srgbClr val="10263B"/>
                </a:solidFill>
              </a:defRPr>
            </a:lvl8pPr>
            <a:lvl9pPr>
              <a:defRPr sz="3300" b="1">
                <a:solidFill>
                  <a:srgbClr val="10263B"/>
                </a:solidFill>
              </a:defRPr>
            </a:lvl9pPr>
          </a:lstStyle>
          <a:p xmlns:a="http://schemas.openxmlformats.org/drawingml/2006/main">
            <a:pPr>
              <a:defRPr sz="3300" b="1">
                <a:solidFill>
                  <a:srgbClr val="10263B"/>
                </a:solidFill>
              </a:defRPr>
            </a:pPr>
            <a:r>
              <a:rPr sz="3300" b="1">
                <a:solidFill>
                  <a:srgbClr val="10263B"/>
                </a:solidFill>
              </a:rPr>
              <a:t>Exploration and training settings</a:t>
            </a:r>
          </a:p>
        </p:txBody>
      </p:sp>
      <p:sp>
        <p:nvSpPr>
          <p:cNvPr id="2" name="">
            <a:extLst xmlns:a="http://schemas.openxmlformats.org/drawingml/2006/main">
              <a:ext uri="{FF2B5EF4-FFF2-40B4-BE49-F238E27FC236}">
                <a16:creationId xmlns:a16="http://schemas.microsoft.com/office/drawing/2014/main" id="{557CB373-F2CD-4C1F-926E-E96237558D46}"/>
              </a:ext>
            </a:extLst>
          </p:cNvPr>
          <p:cNvSpPr>
            <a:spLocks xmlns:a="http://schemas.openxmlformats.org/drawingml/2006/main" noGrp="1"/>
          </p:cNvSpPr>
          <p:nvPr/>
        </p:nvSpPr>
        <p:spPr>
          <a:xfrm xmlns:a="http://schemas.openxmlformats.org/drawingml/2006/main">
            <a:off x="1123950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86178"/>
                </a:solidFill>
              </a:defRPr>
            </a:defPPr>
            <a:lvl1pPr>
              <a:defRPr sz="1350" b="0">
                <a:solidFill>
                  <a:srgbClr val="486178"/>
                </a:solidFill>
              </a:defRPr>
            </a:lvl1pPr>
            <a:lvl2pPr>
              <a:defRPr sz="1350" b="0">
                <a:solidFill>
                  <a:srgbClr val="486178"/>
                </a:solidFill>
              </a:defRPr>
            </a:lvl2pPr>
            <a:lvl3pPr>
              <a:defRPr sz="1350" b="0">
                <a:solidFill>
                  <a:srgbClr val="486178"/>
                </a:solidFill>
              </a:defRPr>
            </a:lvl3pPr>
            <a:lvl4pPr>
              <a:defRPr sz="1350" b="0">
                <a:solidFill>
                  <a:srgbClr val="486178"/>
                </a:solidFill>
              </a:defRPr>
            </a:lvl4pPr>
            <a:lvl5pPr>
              <a:defRPr sz="1350" b="0">
                <a:solidFill>
                  <a:srgbClr val="486178"/>
                </a:solidFill>
              </a:defRPr>
            </a:lvl5pPr>
            <a:lvl6pPr>
              <a:defRPr sz="1350" b="0">
                <a:solidFill>
                  <a:srgbClr val="486178"/>
                </a:solidFill>
              </a:defRPr>
            </a:lvl6pPr>
            <a:lvl7pPr>
              <a:defRPr sz="1350" b="0">
                <a:solidFill>
                  <a:srgbClr val="486178"/>
                </a:solidFill>
              </a:defRPr>
            </a:lvl7pPr>
            <a:lvl8pPr>
              <a:defRPr sz="1350" b="0">
                <a:solidFill>
                  <a:srgbClr val="486178"/>
                </a:solidFill>
              </a:defRPr>
            </a:lvl8pPr>
            <a:lvl9pPr>
              <a:defRPr sz="1350" b="0">
                <a:solidFill>
                  <a:srgbClr val="486178"/>
                </a:solidFill>
              </a:defRPr>
            </a:lvl9pPr>
          </a:lstStyle>
          <a:p xmlns:a="http://schemas.openxmlformats.org/drawingml/2006/main">
            <a:pPr>
              <a:defRPr sz="1350" b="0">
                <a:solidFill>
                  <a:srgbClr val="486178"/>
                </a:solidFill>
              </a:defRPr>
            </a:pPr>
            <a:r>
              <a:rPr sz="1350" b="0">
                <a:solidFill>
                  <a:srgbClr val="486178"/>
                </a:solidFill>
              </a:rPr>
              <a:t>05</a:t>
            </a:r>
          </a:p>
        </p:txBody>
      </p:sp>
      <p:graphicFrame>
        <p:nvGraphicFramePr>
          <p:cNvPr id="3" name="">
            <a:extLst xmlns:a="http://schemas.openxmlformats.org/drawingml/2006/main">
              <a:ext uri="{FF2B5EF4-FFF2-40B4-BE49-F238E27FC236}">
                <a16:creationId xmlns:a16="http://schemas.microsoft.com/office/drawing/2014/main" id="{3D656F1B-54B0-4EB2-BE72-DA4C6CD5BFF4}"/>
              </a:ext>
            </a:extLst>
          </p:cNvPr>
          <p:cNvGraphicFramePr/>
          <p:nvPr/>
        </p:nvGraphicFramePr>
        <p:xfrm>
          <a:off xmlns:a="http://schemas.openxmlformats.org/drawingml/2006/main" x="609600" y="1714500"/>
          <a:ext xmlns:a="http://schemas.openxmlformats.org/drawingml/2006/main" cx="10972800" cy="3714750"/>
        </p:xfrm>
        <a:graphic xmlns:a="http://schemas.openxmlformats.org/drawingml/2006/main">
          <a:graphicData uri="http://schemas.openxmlformats.org/drawingml/2006/table">
            <a:tbl>
              <a:tblPr/>
              <a:tblGrid>
                <a:gridCol w="4762500"/>
                <a:gridCol w="6210300"/>
              </a:tblGrid>
              <a:tr h="742950">
                <a:tc>
                  <a:txBody>
                    <a:bodyPr/>
                    <a:lstStyle/>
                    <a:p>
                      <a:r>
                        <a:rPr sz="1875" b="1">
                          <a:solidFill>
                            <a:srgbClr val="FFFFFF"/>
                          </a:solidFill>
                        </a:rPr>
                        <a:t>Setting</a:t>
                      </a:r>
                    </a:p>
                  </a:txBody>
                  <a:tcPr marL="91440" marR="91440" marT="45720" marB="45720">
                    <a:solidFill>
                      <a:srgbClr val="10263B"/>
                    </a:solidFill>
                  </a:tcPr>
                </a:tc>
                <a:tc>
                  <a:txBody>
                    <a:bodyPr/>
                    <a:lstStyle/>
                    <a:p>
                      <a:r>
                        <a:rPr sz="1875" b="1">
                          <a:solidFill>
                            <a:srgbClr val="FFFFFF"/>
                          </a:solidFill>
                        </a:rPr>
                        <a:t>Default</a:t>
                      </a:r>
                    </a:p>
                  </a:txBody>
                  <a:tcPr marL="91440" marR="91440" marT="45720" marB="45720">
                    <a:solidFill>
                      <a:srgbClr val="10263B"/>
                    </a:solidFill>
                  </a:tcPr>
                </a:tc>
              </a:tr>
              <a:tr h="742950">
                <a:tc>
                  <a:txBody>
                    <a:bodyPr/>
                    <a:lstStyle/>
                    <a:p>
                      <a:r>
                        <a:rPr sz="1875" b="0">
                          <a:solidFill>
                            <a:srgbClr val="10263B"/>
                          </a:solidFill>
                        </a:rPr>
                        <a:t>Training episodes</a:t>
                      </a:r>
                    </a:p>
                  </a:txBody>
                  <a:tcPr marL="91440" marR="91440" marT="45720" marB="45720">
                    <a:solidFill>
                      <a:srgbClr val="EAF1F5"/>
                    </a:solidFill>
                  </a:tcPr>
                </a:tc>
                <a:tc>
                  <a:txBody>
                    <a:bodyPr/>
                    <a:lstStyle/>
                    <a:p>
                      <a:r>
                        <a:rPr sz="1875" b="0">
                          <a:solidFill>
                            <a:srgbClr val="10263B"/>
                          </a:solidFill>
                        </a:rPr>
                        <a:t>3,000</a:t>
                      </a:r>
                    </a:p>
                  </a:txBody>
                  <a:tcPr marL="91440" marR="91440" marT="45720" marB="45720">
                    <a:solidFill>
                      <a:srgbClr val="EAF1F5"/>
                    </a:solidFill>
                  </a:tcPr>
                </a:tc>
              </a:tr>
              <a:tr h="742950">
                <a:tc>
                  <a:txBody>
                    <a:bodyPr/>
                    <a:lstStyle/>
                    <a:p>
                      <a:r>
                        <a:rPr sz="1875" b="0">
                          <a:solidFill>
                            <a:srgbClr val="10263B"/>
                          </a:solidFill>
                        </a:rPr>
                        <a:t>Learning rate α / discount γ</a:t>
                      </a:r>
                    </a:p>
                  </a:txBody>
                  <a:tcPr marL="91440" marR="91440" marT="45720" marB="45720">
                    <a:solidFill>
                      <a:srgbClr val="FFFFFF"/>
                    </a:solidFill>
                  </a:tcPr>
                </a:tc>
                <a:tc>
                  <a:txBody>
                    <a:bodyPr/>
                    <a:lstStyle/>
                    <a:p>
                      <a:r>
                        <a:rPr sz="1875" b="0">
                          <a:solidFill>
                            <a:srgbClr val="10263B"/>
                          </a:solidFill>
                        </a:rPr>
                        <a:t>0.10 / 0.95</a:t>
                      </a:r>
                    </a:p>
                  </a:txBody>
                  <a:tcPr marL="91440" marR="91440" marT="45720" marB="45720">
                    <a:solidFill>
                      <a:srgbClr val="FFFFFF"/>
                    </a:solidFill>
                  </a:tcPr>
                </a:tc>
              </a:tr>
              <a:tr h="742950">
                <a:tc>
                  <a:txBody>
                    <a:bodyPr/>
                    <a:lstStyle/>
                    <a:p>
                      <a:r>
                        <a:rPr sz="1875" b="0">
                          <a:solidFill>
                            <a:srgbClr val="10263B"/>
                          </a:solidFill>
                        </a:rPr>
                        <a:t>Epsilon schedule</a:t>
                      </a:r>
                    </a:p>
                  </a:txBody>
                  <a:tcPr marL="91440" marR="91440" marT="45720" marB="45720">
                    <a:solidFill>
                      <a:srgbClr val="EAF1F5"/>
                    </a:solidFill>
                  </a:tcPr>
                </a:tc>
                <a:tc>
                  <a:txBody>
                    <a:bodyPr/>
                    <a:lstStyle/>
                    <a:p>
                      <a:r>
                        <a:rPr sz="1875" b="0">
                          <a:solidFill>
                            <a:srgbClr val="10263B"/>
                          </a:solidFill>
                        </a:rPr>
                        <a:t>max(0.05, 1.0 × 0.997^episode)</a:t>
                      </a:r>
                    </a:p>
                  </a:txBody>
                  <a:tcPr marL="91440" marR="91440" marT="45720" marB="45720">
                    <a:solidFill>
                      <a:srgbClr val="EAF1F5"/>
                    </a:solidFill>
                  </a:tcPr>
                </a:tc>
              </a:tr>
              <a:tr h="742950">
                <a:tc>
                  <a:txBody>
                    <a:bodyPr/>
                    <a:lstStyle/>
                    <a:p>
                      <a:r>
                        <a:rPr sz="1875" b="0">
                          <a:solidFill>
                            <a:srgbClr val="10263B"/>
                          </a:solidFill>
                        </a:rPr>
                        <a:t>Random seed / episode limit</a:t>
                      </a:r>
                    </a:p>
                  </a:txBody>
                  <a:tcPr marL="91440" marR="91440" marT="45720" marB="45720">
                    <a:solidFill>
                      <a:srgbClr val="FFFFFF"/>
                    </a:solidFill>
                  </a:tcPr>
                </a:tc>
                <a:tc>
                  <a:txBody>
                    <a:bodyPr/>
                    <a:lstStyle/>
                    <a:p>
                      <a:r>
                        <a:rPr sz="1875" b="0">
                          <a:solidFill>
                            <a:srgbClr val="10263B"/>
                          </a:solidFill>
                        </a:rPr>
                        <a:t>42 / 200 actions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348564194"/>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222276-8071-487E-A51F-13D9ABA6E12B}"/>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63B"/>
                </a:solidFill>
              </a:defRPr>
            </a:defPPr>
            <a:lvl1pPr>
              <a:defRPr sz="3300" b="1">
                <a:solidFill>
                  <a:srgbClr val="10263B"/>
                </a:solidFill>
              </a:defRPr>
            </a:lvl1pPr>
            <a:lvl2pPr>
              <a:defRPr sz="3300" b="1">
                <a:solidFill>
                  <a:srgbClr val="10263B"/>
                </a:solidFill>
              </a:defRPr>
            </a:lvl2pPr>
            <a:lvl3pPr>
              <a:defRPr sz="3300" b="1">
                <a:solidFill>
                  <a:srgbClr val="10263B"/>
                </a:solidFill>
              </a:defRPr>
            </a:lvl3pPr>
            <a:lvl4pPr>
              <a:defRPr sz="3300" b="1">
                <a:solidFill>
                  <a:srgbClr val="10263B"/>
                </a:solidFill>
              </a:defRPr>
            </a:lvl4pPr>
            <a:lvl5pPr>
              <a:defRPr sz="3300" b="1">
                <a:solidFill>
                  <a:srgbClr val="10263B"/>
                </a:solidFill>
              </a:defRPr>
            </a:lvl5pPr>
            <a:lvl6pPr>
              <a:defRPr sz="3300" b="1">
                <a:solidFill>
                  <a:srgbClr val="10263B"/>
                </a:solidFill>
              </a:defRPr>
            </a:lvl6pPr>
            <a:lvl7pPr>
              <a:defRPr sz="3300" b="1">
                <a:solidFill>
                  <a:srgbClr val="10263B"/>
                </a:solidFill>
              </a:defRPr>
            </a:lvl7pPr>
            <a:lvl8pPr>
              <a:defRPr sz="3300" b="1">
                <a:solidFill>
                  <a:srgbClr val="10263B"/>
                </a:solidFill>
              </a:defRPr>
            </a:lvl8pPr>
            <a:lvl9pPr>
              <a:defRPr sz="3300" b="1">
                <a:solidFill>
                  <a:srgbClr val="10263B"/>
                </a:solidFill>
              </a:defRPr>
            </a:lvl9pPr>
          </a:lstStyle>
          <a:p xmlns:a="http://schemas.openxmlformats.org/drawingml/2006/main">
            <a:pPr>
              <a:defRPr sz="3300" b="1">
                <a:solidFill>
                  <a:srgbClr val="10263B"/>
                </a:solidFill>
              </a:defRPr>
            </a:pPr>
            <a:r>
              <a:rPr sz="3300" b="1">
                <a:solidFill>
                  <a:srgbClr val="10263B"/>
                </a:solidFill>
              </a:rPr>
              <a:t>Training workflow</a:t>
            </a:r>
          </a:p>
        </p:txBody>
      </p:sp>
      <p:sp>
        <p:nvSpPr>
          <p:cNvPr id="2" name="">
            <a:extLst xmlns:a="http://schemas.openxmlformats.org/drawingml/2006/main">
              <a:ext uri="{FF2B5EF4-FFF2-40B4-BE49-F238E27FC236}">
                <a16:creationId xmlns:a16="http://schemas.microsoft.com/office/drawing/2014/main" id="{105ADD72-B362-401D-9252-155BE8ABB6D2}"/>
              </a:ext>
            </a:extLst>
          </p:cNvPr>
          <p:cNvSpPr>
            <a:spLocks xmlns:a="http://schemas.openxmlformats.org/drawingml/2006/main" noGrp="1"/>
          </p:cNvSpPr>
          <p:nvPr/>
        </p:nvSpPr>
        <p:spPr>
          <a:xfrm xmlns:a="http://schemas.openxmlformats.org/drawingml/2006/main">
            <a:off x="1123950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86178"/>
                </a:solidFill>
              </a:defRPr>
            </a:defPPr>
            <a:lvl1pPr>
              <a:defRPr sz="1350" b="0">
                <a:solidFill>
                  <a:srgbClr val="486178"/>
                </a:solidFill>
              </a:defRPr>
            </a:lvl1pPr>
            <a:lvl2pPr>
              <a:defRPr sz="1350" b="0">
                <a:solidFill>
                  <a:srgbClr val="486178"/>
                </a:solidFill>
              </a:defRPr>
            </a:lvl2pPr>
            <a:lvl3pPr>
              <a:defRPr sz="1350" b="0">
                <a:solidFill>
                  <a:srgbClr val="486178"/>
                </a:solidFill>
              </a:defRPr>
            </a:lvl3pPr>
            <a:lvl4pPr>
              <a:defRPr sz="1350" b="0">
                <a:solidFill>
                  <a:srgbClr val="486178"/>
                </a:solidFill>
              </a:defRPr>
            </a:lvl4pPr>
            <a:lvl5pPr>
              <a:defRPr sz="1350" b="0">
                <a:solidFill>
                  <a:srgbClr val="486178"/>
                </a:solidFill>
              </a:defRPr>
            </a:lvl5pPr>
            <a:lvl6pPr>
              <a:defRPr sz="1350" b="0">
                <a:solidFill>
                  <a:srgbClr val="486178"/>
                </a:solidFill>
              </a:defRPr>
            </a:lvl6pPr>
            <a:lvl7pPr>
              <a:defRPr sz="1350" b="0">
                <a:solidFill>
                  <a:srgbClr val="486178"/>
                </a:solidFill>
              </a:defRPr>
            </a:lvl7pPr>
            <a:lvl8pPr>
              <a:defRPr sz="1350" b="0">
                <a:solidFill>
                  <a:srgbClr val="486178"/>
                </a:solidFill>
              </a:defRPr>
            </a:lvl8pPr>
            <a:lvl9pPr>
              <a:defRPr sz="1350" b="0">
                <a:solidFill>
                  <a:srgbClr val="486178"/>
                </a:solidFill>
              </a:defRPr>
            </a:lvl9pPr>
          </a:lstStyle>
          <a:p xmlns:a="http://schemas.openxmlformats.org/drawingml/2006/main">
            <a:pPr>
              <a:defRPr sz="1350" b="0">
                <a:solidFill>
                  <a:srgbClr val="486178"/>
                </a:solidFill>
              </a:defRPr>
            </a:pPr>
            <a:r>
              <a:rPr sz="1350" b="0">
                <a:solidFill>
                  <a:srgbClr val="486178"/>
                </a:solidFill>
              </a:rPr>
              <a:t>06</a:t>
            </a:r>
          </a:p>
        </p:txBody>
      </p:sp>
      <p:sp>
        <p:nvSpPr>
          <p:cNvPr id="3" name="">
            <a:extLst xmlns:a="http://schemas.openxmlformats.org/drawingml/2006/main">
              <a:ext uri="{FF2B5EF4-FFF2-40B4-BE49-F238E27FC236}">
                <a16:creationId xmlns:a16="http://schemas.microsoft.com/office/drawing/2014/main" id="{919F104C-B7E9-4FF4-B268-4BEA8E199726}"/>
              </a:ext>
            </a:extLst>
          </p:cNvPr>
          <p:cNvSpPr>
            <a:spLocks xmlns:a="http://schemas.openxmlformats.org/drawingml/2006/main" noGrp="1"/>
          </p:cNvSpPr>
          <p:nvPr/>
        </p:nvSpPr>
        <p:spPr>
          <a:xfrm xmlns:a="http://schemas.openxmlformats.org/drawingml/2006/main">
            <a:off x="609600" y="1695450"/>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0263B"/>
                </a:solidFill>
              </a:defRPr>
            </a:defPPr>
            <a:lvl1pPr>
              <a:defRPr sz="2175" b="0">
                <a:solidFill>
                  <a:srgbClr val="10263B"/>
                </a:solidFill>
              </a:defRPr>
            </a:lvl1pPr>
            <a:lvl2pPr>
              <a:defRPr sz="2175" b="0">
                <a:solidFill>
                  <a:srgbClr val="10263B"/>
                </a:solidFill>
              </a:defRPr>
            </a:lvl2pPr>
            <a:lvl3pPr>
              <a:defRPr sz="2175" b="0">
                <a:solidFill>
                  <a:srgbClr val="10263B"/>
                </a:solidFill>
              </a:defRPr>
            </a:lvl3pPr>
            <a:lvl4pPr>
              <a:defRPr sz="2175" b="0">
                <a:solidFill>
                  <a:srgbClr val="10263B"/>
                </a:solidFill>
              </a:defRPr>
            </a:lvl4pPr>
            <a:lvl5pPr>
              <a:defRPr sz="2175" b="0">
                <a:solidFill>
                  <a:srgbClr val="10263B"/>
                </a:solidFill>
              </a:defRPr>
            </a:lvl5pPr>
            <a:lvl6pPr>
              <a:defRPr sz="2175" b="0">
                <a:solidFill>
                  <a:srgbClr val="10263B"/>
                </a:solidFill>
              </a:defRPr>
            </a:lvl6pPr>
            <a:lvl7pPr>
              <a:defRPr sz="2175" b="0">
                <a:solidFill>
                  <a:srgbClr val="10263B"/>
                </a:solidFill>
              </a:defRPr>
            </a:lvl7pPr>
            <a:lvl8pPr>
              <a:defRPr sz="2175" b="0">
                <a:solidFill>
                  <a:srgbClr val="10263B"/>
                </a:solidFill>
              </a:defRPr>
            </a:lvl8pPr>
            <a:lvl9pPr>
              <a:defRPr sz="2175" b="0">
                <a:solidFill>
                  <a:srgbClr val="10263B"/>
                </a:solidFill>
              </a:defRPr>
            </a:lvl9pPr>
          </a:lstStyle>
          <a:p xmlns:a="http://schemas.openxmlformats.org/drawingml/2006/main">
            <a:pPr>
              <a:defRPr sz="2175" b="0">
                <a:solidFill>
                  <a:srgbClr val="10263B"/>
                </a:solidFill>
              </a:defRPr>
            </a:pPr>
            <a:r>
              <a:rPr sz="2175" b="0">
                <a:solidFill>
                  <a:srgbClr val="10263B"/>
                </a:solidFill>
              </a:rPr>
              <a:t>1. Initialize Q-values and reset to the start</a:t>
            </a:r>
          </a:p>
        </p:txBody>
      </p:sp>
      <p:sp>
        <p:nvSpPr>
          <p:cNvPr id="4" name="">
            <a:extLst xmlns:a="http://schemas.openxmlformats.org/drawingml/2006/main">
              <a:ext uri="{FF2B5EF4-FFF2-40B4-BE49-F238E27FC236}">
                <a16:creationId xmlns:a16="http://schemas.microsoft.com/office/drawing/2014/main" id="{1B504A50-ACC8-47DA-8511-2882CEA2E9E9}"/>
              </a:ext>
            </a:extLst>
          </p:cNvPr>
          <p:cNvSpPr>
            <a:spLocks xmlns:a="http://schemas.openxmlformats.org/drawingml/2006/main" noGrp="1"/>
          </p:cNvSpPr>
          <p:nvPr/>
        </p:nvSpPr>
        <p:spPr>
          <a:xfrm xmlns:a="http://schemas.openxmlformats.org/drawingml/2006/main">
            <a:off x="609600" y="2609850"/>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0263B"/>
                </a:solidFill>
              </a:defRPr>
            </a:defPPr>
            <a:lvl1pPr>
              <a:defRPr sz="2175" b="0">
                <a:solidFill>
                  <a:srgbClr val="10263B"/>
                </a:solidFill>
              </a:defRPr>
            </a:lvl1pPr>
            <a:lvl2pPr>
              <a:defRPr sz="2175" b="0">
                <a:solidFill>
                  <a:srgbClr val="10263B"/>
                </a:solidFill>
              </a:defRPr>
            </a:lvl2pPr>
            <a:lvl3pPr>
              <a:defRPr sz="2175" b="0">
                <a:solidFill>
                  <a:srgbClr val="10263B"/>
                </a:solidFill>
              </a:defRPr>
            </a:lvl3pPr>
            <a:lvl4pPr>
              <a:defRPr sz="2175" b="0">
                <a:solidFill>
                  <a:srgbClr val="10263B"/>
                </a:solidFill>
              </a:defRPr>
            </a:lvl4pPr>
            <a:lvl5pPr>
              <a:defRPr sz="2175" b="0">
                <a:solidFill>
                  <a:srgbClr val="10263B"/>
                </a:solidFill>
              </a:defRPr>
            </a:lvl5pPr>
            <a:lvl6pPr>
              <a:defRPr sz="2175" b="0">
                <a:solidFill>
                  <a:srgbClr val="10263B"/>
                </a:solidFill>
              </a:defRPr>
            </a:lvl6pPr>
            <a:lvl7pPr>
              <a:defRPr sz="2175" b="0">
                <a:solidFill>
                  <a:srgbClr val="10263B"/>
                </a:solidFill>
              </a:defRPr>
            </a:lvl7pPr>
            <a:lvl8pPr>
              <a:defRPr sz="2175" b="0">
                <a:solidFill>
                  <a:srgbClr val="10263B"/>
                </a:solidFill>
              </a:defRPr>
            </a:lvl8pPr>
            <a:lvl9pPr>
              <a:defRPr sz="2175" b="0">
                <a:solidFill>
                  <a:srgbClr val="10263B"/>
                </a:solidFill>
              </a:defRPr>
            </a:lvl9pPr>
          </a:lstStyle>
          <a:p xmlns:a="http://schemas.openxmlformats.org/drawingml/2006/main">
            <a:pPr>
              <a:defRPr sz="2175" b="0">
                <a:solidFill>
                  <a:srgbClr val="10263B"/>
                </a:solidFill>
              </a:defRPr>
            </a:pPr>
            <a:r>
              <a:rPr sz="2175" b="0">
                <a:solidFill>
                  <a:srgbClr val="10263B"/>
                </a:solidFill>
              </a:rPr>
              <a:t>2. Select an action using the epsilon-greedy policy</a:t>
            </a:r>
          </a:p>
        </p:txBody>
      </p:sp>
      <p:sp>
        <p:nvSpPr>
          <p:cNvPr id="5" name="">
            <a:extLst xmlns:a="http://schemas.openxmlformats.org/drawingml/2006/main">
              <a:ext uri="{FF2B5EF4-FFF2-40B4-BE49-F238E27FC236}">
                <a16:creationId xmlns:a16="http://schemas.microsoft.com/office/drawing/2014/main" id="{DE9DC9F8-3B3D-4381-B194-7AA0A9B1D278}"/>
              </a:ext>
            </a:extLst>
          </p:cNvPr>
          <p:cNvSpPr>
            <a:spLocks xmlns:a="http://schemas.openxmlformats.org/drawingml/2006/main" noGrp="1"/>
          </p:cNvSpPr>
          <p:nvPr/>
        </p:nvSpPr>
        <p:spPr>
          <a:xfrm xmlns:a="http://schemas.openxmlformats.org/drawingml/2006/main">
            <a:off x="609600" y="3524250"/>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0263B"/>
                </a:solidFill>
              </a:defRPr>
            </a:defPPr>
            <a:lvl1pPr>
              <a:defRPr sz="2175" b="0">
                <a:solidFill>
                  <a:srgbClr val="10263B"/>
                </a:solidFill>
              </a:defRPr>
            </a:lvl1pPr>
            <a:lvl2pPr>
              <a:defRPr sz="2175" b="0">
                <a:solidFill>
                  <a:srgbClr val="10263B"/>
                </a:solidFill>
              </a:defRPr>
            </a:lvl2pPr>
            <a:lvl3pPr>
              <a:defRPr sz="2175" b="0">
                <a:solidFill>
                  <a:srgbClr val="10263B"/>
                </a:solidFill>
              </a:defRPr>
            </a:lvl3pPr>
            <a:lvl4pPr>
              <a:defRPr sz="2175" b="0">
                <a:solidFill>
                  <a:srgbClr val="10263B"/>
                </a:solidFill>
              </a:defRPr>
            </a:lvl4pPr>
            <a:lvl5pPr>
              <a:defRPr sz="2175" b="0">
                <a:solidFill>
                  <a:srgbClr val="10263B"/>
                </a:solidFill>
              </a:defRPr>
            </a:lvl5pPr>
            <a:lvl6pPr>
              <a:defRPr sz="2175" b="0">
                <a:solidFill>
                  <a:srgbClr val="10263B"/>
                </a:solidFill>
              </a:defRPr>
            </a:lvl6pPr>
            <a:lvl7pPr>
              <a:defRPr sz="2175" b="0">
                <a:solidFill>
                  <a:srgbClr val="10263B"/>
                </a:solidFill>
              </a:defRPr>
            </a:lvl7pPr>
            <a:lvl8pPr>
              <a:defRPr sz="2175" b="0">
                <a:solidFill>
                  <a:srgbClr val="10263B"/>
                </a:solidFill>
              </a:defRPr>
            </a:lvl8pPr>
            <a:lvl9pPr>
              <a:defRPr sz="2175" b="0">
                <a:solidFill>
                  <a:srgbClr val="10263B"/>
                </a:solidFill>
              </a:defRPr>
            </a:lvl9pPr>
          </a:lstStyle>
          <a:p xmlns:a="http://schemas.openxmlformats.org/drawingml/2006/main">
            <a:pPr>
              <a:defRPr sz="2175" b="0">
                <a:solidFill>
                  <a:srgbClr val="10263B"/>
                </a:solidFill>
              </a:defRPr>
            </a:pPr>
            <a:r>
              <a:rPr sz="2175" b="0">
                <a:solidFill>
                  <a:srgbClr val="10263B"/>
                </a:solidFill>
              </a:rPr>
              <a:t>3. Observe the next state and reward</a:t>
            </a:r>
          </a:p>
        </p:txBody>
      </p:sp>
      <p:sp>
        <p:nvSpPr>
          <p:cNvPr id="6" name="">
            <a:extLst xmlns:a="http://schemas.openxmlformats.org/drawingml/2006/main">
              <a:ext uri="{FF2B5EF4-FFF2-40B4-BE49-F238E27FC236}">
                <a16:creationId xmlns:a16="http://schemas.microsoft.com/office/drawing/2014/main" id="{7590FC58-A935-4640-8646-B1BFE464BEEE}"/>
              </a:ext>
            </a:extLst>
          </p:cNvPr>
          <p:cNvSpPr>
            <a:spLocks xmlns:a="http://schemas.openxmlformats.org/drawingml/2006/main" noGrp="1"/>
          </p:cNvSpPr>
          <p:nvPr/>
        </p:nvSpPr>
        <p:spPr>
          <a:xfrm xmlns:a="http://schemas.openxmlformats.org/drawingml/2006/main">
            <a:off x="609600" y="4438650"/>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0263B"/>
                </a:solidFill>
              </a:defRPr>
            </a:defPPr>
            <a:lvl1pPr>
              <a:defRPr sz="2175" b="0">
                <a:solidFill>
                  <a:srgbClr val="10263B"/>
                </a:solidFill>
              </a:defRPr>
            </a:lvl1pPr>
            <a:lvl2pPr>
              <a:defRPr sz="2175" b="0">
                <a:solidFill>
                  <a:srgbClr val="10263B"/>
                </a:solidFill>
              </a:defRPr>
            </a:lvl2pPr>
            <a:lvl3pPr>
              <a:defRPr sz="2175" b="0">
                <a:solidFill>
                  <a:srgbClr val="10263B"/>
                </a:solidFill>
              </a:defRPr>
            </a:lvl3pPr>
            <a:lvl4pPr>
              <a:defRPr sz="2175" b="0">
                <a:solidFill>
                  <a:srgbClr val="10263B"/>
                </a:solidFill>
              </a:defRPr>
            </a:lvl4pPr>
            <a:lvl5pPr>
              <a:defRPr sz="2175" b="0">
                <a:solidFill>
                  <a:srgbClr val="10263B"/>
                </a:solidFill>
              </a:defRPr>
            </a:lvl5pPr>
            <a:lvl6pPr>
              <a:defRPr sz="2175" b="0">
                <a:solidFill>
                  <a:srgbClr val="10263B"/>
                </a:solidFill>
              </a:defRPr>
            </a:lvl6pPr>
            <a:lvl7pPr>
              <a:defRPr sz="2175" b="0">
                <a:solidFill>
                  <a:srgbClr val="10263B"/>
                </a:solidFill>
              </a:defRPr>
            </a:lvl7pPr>
            <a:lvl8pPr>
              <a:defRPr sz="2175" b="0">
                <a:solidFill>
                  <a:srgbClr val="10263B"/>
                </a:solidFill>
              </a:defRPr>
            </a:lvl8pPr>
            <a:lvl9pPr>
              <a:defRPr sz="2175" b="0">
                <a:solidFill>
                  <a:srgbClr val="10263B"/>
                </a:solidFill>
              </a:defRPr>
            </a:lvl9pPr>
          </a:lstStyle>
          <a:p xmlns:a="http://schemas.openxmlformats.org/drawingml/2006/main">
            <a:pPr>
              <a:defRPr sz="2175" b="0">
                <a:solidFill>
                  <a:srgbClr val="10263B"/>
                </a:solidFill>
              </a:defRPr>
            </a:pPr>
            <a:r>
              <a:rPr sz="2175" b="0">
                <a:solidFill>
                  <a:srgbClr val="10263B"/>
                </a:solidFill>
              </a:rPr>
              <a:t>4. Update Q and repeat until the goal or time limit</a:t>
            </a:r>
          </a:p>
        </p:txBody>
      </p:sp>
      <p:sp>
        <p:nvSpPr>
          <p:cNvPr id="7" name="">
            <a:extLst xmlns:a="http://schemas.openxmlformats.org/drawingml/2006/main">
              <a:ext uri="{FF2B5EF4-FFF2-40B4-BE49-F238E27FC236}">
                <a16:creationId xmlns:a16="http://schemas.microsoft.com/office/drawing/2014/main" id="{98DAA2DD-0E27-40A2-B407-B41DCF9A6374}"/>
              </a:ext>
            </a:extLst>
          </p:cNvPr>
          <p:cNvSpPr>
            <a:spLocks xmlns:a="http://schemas.openxmlformats.org/drawingml/2006/main" noGrp="1"/>
          </p:cNvSpPr>
          <p:nvPr/>
        </p:nvSpPr>
        <p:spPr>
          <a:xfrm xmlns:a="http://schemas.openxmlformats.org/drawingml/2006/main">
            <a:off x="609600" y="567690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86178"/>
                </a:solidFill>
              </a:defRPr>
            </a:defPPr>
            <a:lvl1pPr>
              <a:defRPr sz="1800" b="0">
                <a:solidFill>
                  <a:srgbClr val="486178"/>
                </a:solidFill>
              </a:defRPr>
            </a:lvl1pPr>
            <a:lvl2pPr>
              <a:defRPr sz="1800" b="0">
                <a:solidFill>
                  <a:srgbClr val="486178"/>
                </a:solidFill>
              </a:defRPr>
            </a:lvl2pPr>
            <a:lvl3pPr>
              <a:defRPr sz="1800" b="0">
                <a:solidFill>
                  <a:srgbClr val="486178"/>
                </a:solidFill>
              </a:defRPr>
            </a:lvl3pPr>
            <a:lvl4pPr>
              <a:defRPr sz="1800" b="0">
                <a:solidFill>
                  <a:srgbClr val="486178"/>
                </a:solidFill>
              </a:defRPr>
            </a:lvl4pPr>
            <a:lvl5pPr>
              <a:defRPr sz="1800" b="0">
                <a:solidFill>
                  <a:srgbClr val="486178"/>
                </a:solidFill>
              </a:defRPr>
            </a:lvl5pPr>
            <a:lvl6pPr>
              <a:defRPr sz="1800" b="0">
                <a:solidFill>
                  <a:srgbClr val="486178"/>
                </a:solidFill>
              </a:defRPr>
            </a:lvl6pPr>
            <a:lvl7pPr>
              <a:defRPr sz="1800" b="0">
                <a:solidFill>
                  <a:srgbClr val="486178"/>
                </a:solidFill>
              </a:defRPr>
            </a:lvl7pPr>
            <a:lvl8pPr>
              <a:defRPr sz="1800" b="0">
                <a:solidFill>
                  <a:srgbClr val="486178"/>
                </a:solidFill>
              </a:defRPr>
            </a:lvl8pPr>
            <a:lvl9pPr>
              <a:defRPr sz="1800" b="0">
                <a:solidFill>
                  <a:srgbClr val="486178"/>
                </a:solidFill>
              </a:defRPr>
            </a:lvl9pPr>
          </a:lstStyle>
          <a:p xmlns:a="http://schemas.openxmlformats.org/drawingml/2006/main">
            <a:pPr>
              <a:defRPr sz="1800" b="0">
                <a:solidFill>
                  <a:srgbClr val="486178"/>
                </a:solidFill>
              </a:defRPr>
            </a:pPr>
            <a:r>
              <a:rPr sz="1800" b="0">
                <a:solidFill>
                  <a:srgbClr val="486178"/>
                </a:solidFill>
              </a:rPr>
              <a:t>The trainer saves reward, action count, success, and epsilon per episode.</a:t>
            </a:r>
          </a:p>
        </p:txBody>
      </p:sp>
    </p:spTree>
    <p:extLst>
      <p:ext uri="{BB962C8B-B14F-4D97-AF65-F5344CB8AC3E}">
        <p14:creationId xmlns:p14="http://schemas.microsoft.com/office/powerpoint/2010/main" val="990785588"/>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635FE5-2F77-45EC-AB6E-60083E9A7922}"/>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63B"/>
                </a:solidFill>
              </a:defRPr>
            </a:defPPr>
            <a:lvl1pPr>
              <a:defRPr sz="3300" b="1">
                <a:solidFill>
                  <a:srgbClr val="10263B"/>
                </a:solidFill>
              </a:defRPr>
            </a:lvl1pPr>
            <a:lvl2pPr>
              <a:defRPr sz="3300" b="1">
                <a:solidFill>
                  <a:srgbClr val="10263B"/>
                </a:solidFill>
              </a:defRPr>
            </a:lvl2pPr>
            <a:lvl3pPr>
              <a:defRPr sz="3300" b="1">
                <a:solidFill>
                  <a:srgbClr val="10263B"/>
                </a:solidFill>
              </a:defRPr>
            </a:lvl3pPr>
            <a:lvl4pPr>
              <a:defRPr sz="3300" b="1">
                <a:solidFill>
                  <a:srgbClr val="10263B"/>
                </a:solidFill>
              </a:defRPr>
            </a:lvl4pPr>
            <a:lvl5pPr>
              <a:defRPr sz="3300" b="1">
                <a:solidFill>
                  <a:srgbClr val="10263B"/>
                </a:solidFill>
              </a:defRPr>
            </a:lvl5pPr>
            <a:lvl6pPr>
              <a:defRPr sz="3300" b="1">
                <a:solidFill>
                  <a:srgbClr val="10263B"/>
                </a:solidFill>
              </a:defRPr>
            </a:lvl6pPr>
            <a:lvl7pPr>
              <a:defRPr sz="3300" b="1">
                <a:solidFill>
                  <a:srgbClr val="10263B"/>
                </a:solidFill>
              </a:defRPr>
            </a:lvl7pPr>
            <a:lvl8pPr>
              <a:defRPr sz="3300" b="1">
                <a:solidFill>
                  <a:srgbClr val="10263B"/>
                </a:solidFill>
              </a:defRPr>
            </a:lvl8pPr>
            <a:lvl9pPr>
              <a:defRPr sz="3300" b="1">
                <a:solidFill>
                  <a:srgbClr val="10263B"/>
                </a:solidFill>
              </a:defRPr>
            </a:lvl9pPr>
          </a:lstStyle>
          <a:p xmlns:a="http://schemas.openxmlformats.org/drawingml/2006/main">
            <a:pPr>
              <a:defRPr sz="3300" b="1">
                <a:solidFill>
                  <a:srgbClr val="10263B"/>
                </a:solidFill>
              </a:defRPr>
            </a:pPr>
            <a:r>
              <a:rPr sz="3300" b="1">
                <a:solidFill>
                  <a:srgbClr val="10263B"/>
                </a:solidFill>
              </a:rPr>
              <a:t>Project structure and live demonstration</a:t>
            </a:r>
          </a:p>
        </p:txBody>
      </p:sp>
      <p:sp>
        <p:nvSpPr>
          <p:cNvPr id="2" name="">
            <a:extLst xmlns:a="http://schemas.openxmlformats.org/drawingml/2006/main">
              <a:ext uri="{FF2B5EF4-FFF2-40B4-BE49-F238E27FC236}">
                <a16:creationId xmlns:a16="http://schemas.microsoft.com/office/drawing/2014/main" id="{E3090039-FE7A-4830-93CB-375606AAEE8A}"/>
              </a:ext>
            </a:extLst>
          </p:cNvPr>
          <p:cNvSpPr>
            <a:spLocks xmlns:a="http://schemas.openxmlformats.org/drawingml/2006/main" noGrp="1"/>
          </p:cNvSpPr>
          <p:nvPr/>
        </p:nvSpPr>
        <p:spPr>
          <a:xfrm xmlns:a="http://schemas.openxmlformats.org/drawingml/2006/main">
            <a:off x="1123950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86178"/>
                </a:solidFill>
              </a:defRPr>
            </a:defPPr>
            <a:lvl1pPr>
              <a:defRPr sz="1350" b="0">
                <a:solidFill>
                  <a:srgbClr val="486178"/>
                </a:solidFill>
              </a:defRPr>
            </a:lvl1pPr>
            <a:lvl2pPr>
              <a:defRPr sz="1350" b="0">
                <a:solidFill>
                  <a:srgbClr val="486178"/>
                </a:solidFill>
              </a:defRPr>
            </a:lvl2pPr>
            <a:lvl3pPr>
              <a:defRPr sz="1350" b="0">
                <a:solidFill>
                  <a:srgbClr val="486178"/>
                </a:solidFill>
              </a:defRPr>
            </a:lvl3pPr>
            <a:lvl4pPr>
              <a:defRPr sz="1350" b="0">
                <a:solidFill>
                  <a:srgbClr val="486178"/>
                </a:solidFill>
              </a:defRPr>
            </a:lvl4pPr>
            <a:lvl5pPr>
              <a:defRPr sz="1350" b="0">
                <a:solidFill>
                  <a:srgbClr val="486178"/>
                </a:solidFill>
              </a:defRPr>
            </a:lvl5pPr>
            <a:lvl6pPr>
              <a:defRPr sz="1350" b="0">
                <a:solidFill>
                  <a:srgbClr val="486178"/>
                </a:solidFill>
              </a:defRPr>
            </a:lvl6pPr>
            <a:lvl7pPr>
              <a:defRPr sz="1350" b="0">
                <a:solidFill>
                  <a:srgbClr val="486178"/>
                </a:solidFill>
              </a:defRPr>
            </a:lvl7pPr>
            <a:lvl8pPr>
              <a:defRPr sz="1350" b="0">
                <a:solidFill>
                  <a:srgbClr val="486178"/>
                </a:solidFill>
              </a:defRPr>
            </a:lvl8pPr>
            <a:lvl9pPr>
              <a:defRPr sz="1350" b="0">
                <a:solidFill>
                  <a:srgbClr val="486178"/>
                </a:solidFill>
              </a:defRPr>
            </a:lvl9pPr>
          </a:lstStyle>
          <a:p xmlns:a="http://schemas.openxmlformats.org/drawingml/2006/main">
            <a:pPr>
              <a:defRPr sz="1350" b="0">
                <a:solidFill>
                  <a:srgbClr val="486178"/>
                </a:solidFill>
              </a:defRPr>
            </a:pPr>
            <a:r>
              <a:rPr sz="1350" b="0">
                <a:solidFill>
                  <a:srgbClr val="486178"/>
                </a:solidFill>
              </a:rPr>
              <a:t>07</a:t>
            </a:r>
          </a:p>
        </p:txBody>
      </p:sp>
      <p:sp>
        <p:nvSpPr>
          <p:cNvPr id="3" name="">
            <a:extLst xmlns:a="http://schemas.openxmlformats.org/drawingml/2006/main">
              <a:ext uri="{FF2B5EF4-FFF2-40B4-BE49-F238E27FC236}">
                <a16:creationId xmlns:a16="http://schemas.microsoft.com/office/drawing/2014/main" id="{CB0B8221-33F2-4CFC-AF11-5AA746C35F98}"/>
              </a:ext>
            </a:extLst>
          </p:cNvPr>
          <p:cNvSpPr>
            <a:spLocks xmlns:a="http://schemas.openxmlformats.org/drawingml/2006/main" noGrp="1"/>
          </p:cNvSpPr>
          <p:nvPr/>
        </p:nvSpPr>
        <p:spPr>
          <a:xfrm xmlns:a="http://schemas.openxmlformats.org/drawingml/2006/main">
            <a:off x="609600" y="1619250"/>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63B"/>
                </a:solidFill>
              </a:defRPr>
            </a:defPPr>
            <a:lvl1pPr>
              <a:defRPr sz="2100" b="0">
                <a:solidFill>
                  <a:srgbClr val="10263B"/>
                </a:solidFill>
              </a:defRPr>
            </a:lvl1pPr>
            <a:lvl2pPr>
              <a:defRPr sz="2100" b="0">
                <a:solidFill>
                  <a:srgbClr val="10263B"/>
                </a:solidFill>
              </a:defRPr>
            </a:lvl2pPr>
            <a:lvl3pPr>
              <a:defRPr sz="2100" b="0">
                <a:solidFill>
                  <a:srgbClr val="10263B"/>
                </a:solidFill>
              </a:defRPr>
            </a:lvl3pPr>
            <a:lvl4pPr>
              <a:defRPr sz="2100" b="0">
                <a:solidFill>
                  <a:srgbClr val="10263B"/>
                </a:solidFill>
              </a:defRPr>
            </a:lvl4pPr>
            <a:lvl5pPr>
              <a:defRPr sz="2100" b="0">
                <a:solidFill>
                  <a:srgbClr val="10263B"/>
                </a:solidFill>
              </a:defRPr>
            </a:lvl5pPr>
            <a:lvl6pPr>
              <a:defRPr sz="2100" b="0">
                <a:solidFill>
                  <a:srgbClr val="10263B"/>
                </a:solidFill>
              </a:defRPr>
            </a:lvl6pPr>
            <a:lvl7pPr>
              <a:defRPr sz="2100" b="0">
                <a:solidFill>
                  <a:srgbClr val="10263B"/>
                </a:solidFill>
              </a:defRPr>
            </a:lvl7pPr>
            <a:lvl8pPr>
              <a:defRPr sz="2100" b="0">
                <a:solidFill>
                  <a:srgbClr val="10263B"/>
                </a:solidFill>
              </a:defRPr>
            </a:lvl8pPr>
            <a:lvl9pPr>
              <a:defRPr sz="2100" b="0">
                <a:solidFill>
                  <a:srgbClr val="10263B"/>
                </a:solidFill>
              </a:defRPr>
            </a:lvl9pPr>
          </a:lstStyle>
          <a:p xmlns:a="http://schemas.openxmlformats.org/drawingml/2006/main">
            <a:pPr>
              <a:defRPr sz="2100" b="0">
                <a:solidFill>
                  <a:srgbClr val="10263B"/>
                </a:solidFill>
              </a:defRPr>
            </a:pPr>
            <a:r>
              <a:rPr sz="2100" b="0">
                <a:solidFill>
                  <a:srgbClr val="10263B"/>
                </a:solidFill>
              </a:rPr>
              <a:t>gridworld.py: environment, training, evaluation, and CLI</a:t>
            </a:r>
          </a:p>
        </p:txBody>
      </p:sp>
      <p:sp>
        <p:nvSpPr>
          <p:cNvPr id="4" name="">
            <a:extLst xmlns:a="http://schemas.openxmlformats.org/drawingml/2006/main">
              <a:ext uri="{FF2B5EF4-FFF2-40B4-BE49-F238E27FC236}">
                <a16:creationId xmlns:a16="http://schemas.microsoft.com/office/drawing/2014/main" id="{CD96DF67-2C02-44F9-AD8A-DE1300A4333A}"/>
              </a:ext>
            </a:extLst>
          </p:cNvPr>
          <p:cNvSpPr>
            <a:spLocks xmlns:a="http://schemas.openxmlformats.org/drawingml/2006/main" noGrp="1"/>
          </p:cNvSpPr>
          <p:nvPr/>
        </p:nvSpPr>
        <p:spPr>
          <a:xfrm xmlns:a="http://schemas.openxmlformats.org/drawingml/2006/main">
            <a:off x="609600" y="2409825"/>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63B"/>
                </a:solidFill>
              </a:defRPr>
            </a:defPPr>
            <a:lvl1pPr>
              <a:defRPr sz="2100" b="0">
                <a:solidFill>
                  <a:srgbClr val="10263B"/>
                </a:solidFill>
              </a:defRPr>
            </a:lvl1pPr>
            <a:lvl2pPr>
              <a:defRPr sz="2100" b="0">
                <a:solidFill>
                  <a:srgbClr val="10263B"/>
                </a:solidFill>
              </a:defRPr>
            </a:lvl2pPr>
            <a:lvl3pPr>
              <a:defRPr sz="2100" b="0">
                <a:solidFill>
                  <a:srgbClr val="10263B"/>
                </a:solidFill>
              </a:defRPr>
            </a:lvl3pPr>
            <a:lvl4pPr>
              <a:defRPr sz="2100" b="0">
                <a:solidFill>
                  <a:srgbClr val="10263B"/>
                </a:solidFill>
              </a:defRPr>
            </a:lvl4pPr>
            <a:lvl5pPr>
              <a:defRPr sz="2100" b="0">
                <a:solidFill>
                  <a:srgbClr val="10263B"/>
                </a:solidFill>
              </a:defRPr>
            </a:lvl5pPr>
            <a:lvl6pPr>
              <a:defRPr sz="2100" b="0">
                <a:solidFill>
                  <a:srgbClr val="10263B"/>
                </a:solidFill>
              </a:defRPr>
            </a:lvl6pPr>
            <a:lvl7pPr>
              <a:defRPr sz="2100" b="0">
                <a:solidFill>
                  <a:srgbClr val="10263B"/>
                </a:solidFill>
              </a:defRPr>
            </a:lvl7pPr>
            <a:lvl8pPr>
              <a:defRPr sz="2100" b="0">
                <a:solidFill>
                  <a:srgbClr val="10263B"/>
                </a:solidFill>
              </a:defRPr>
            </a:lvl8pPr>
            <a:lvl9pPr>
              <a:defRPr sz="2100" b="0">
                <a:solidFill>
                  <a:srgbClr val="10263B"/>
                </a:solidFill>
              </a:defRPr>
            </a:lvl9pPr>
          </a:lstStyle>
          <a:p xmlns:a="http://schemas.openxmlformats.org/drawingml/2006/main">
            <a:pPr>
              <a:defRPr sz="2100" b="0">
                <a:solidFill>
                  <a:srgbClr val="10263B"/>
                </a:solidFill>
              </a:defRPr>
            </a:pPr>
            <a:r>
              <a:rPr sz="2100" b="0">
                <a:solidFill>
                  <a:srgbClr val="10263B"/>
                </a:solidFill>
              </a:rPr>
              <a:t>test_gridworld.py: six automated tests</a:t>
            </a:r>
          </a:p>
        </p:txBody>
      </p:sp>
      <p:sp>
        <p:nvSpPr>
          <p:cNvPr id="5" name="">
            <a:extLst xmlns:a="http://schemas.openxmlformats.org/drawingml/2006/main">
              <a:ext uri="{FF2B5EF4-FFF2-40B4-BE49-F238E27FC236}">
                <a16:creationId xmlns:a16="http://schemas.microsoft.com/office/drawing/2014/main" id="{37D87A20-CE63-46C0-922E-5AC76072830B}"/>
              </a:ext>
            </a:extLst>
          </p:cNvPr>
          <p:cNvSpPr>
            <a:spLocks xmlns:a="http://schemas.openxmlformats.org/drawingml/2006/main" noGrp="1"/>
          </p:cNvSpPr>
          <p:nvPr/>
        </p:nvSpPr>
        <p:spPr>
          <a:xfrm xmlns:a="http://schemas.openxmlformats.org/drawingml/2006/main">
            <a:off x="609600" y="3200400"/>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63B"/>
                </a:solidFill>
              </a:defRPr>
            </a:defPPr>
            <a:lvl1pPr>
              <a:defRPr sz="2100" b="0">
                <a:solidFill>
                  <a:srgbClr val="10263B"/>
                </a:solidFill>
              </a:defRPr>
            </a:lvl1pPr>
            <a:lvl2pPr>
              <a:defRPr sz="2100" b="0">
                <a:solidFill>
                  <a:srgbClr val="10263B"/>
                </a:solidFill>
              </a:defRPr>
            </a:lvl2pPr>
            <a:lvl3pPr>
              <a:defRPr sz="2100" b="0">
                <a:solidFill>
                  <a:srgbClr val="10263B"/>
                </a:solidFill>
              </a:defRPr>
            </a:lvl3pPr>
            <a:lvl4pPr>
              <a:defRPr sz="2100" b="0">
                <a:solidFill>
                  <a:srgbClr val="10263B"/>
                </a:solidFill>
              </a:defRPr>
            </a:lvl4pPr>
            <a:lvl5pPr>
              <a:defRPr sz="2100" b="0">
                <a:solidFill>
                  <a:srgbClr val="10263B"/>
                </a:solidFill>
              </a:defRPr>
            </a:lvl5pPr>
            <a:lvl6pPr>
              <a:defRPr sz="2100" b="0">
                <a:solidFill>
                  <a:srgbClr val="10263B"/>
                </a:solidFill>
              </a:defRPr>
            </a:lvl6pPr>
            <a:lvl7pPr>
              <a:defRPr sz="2100" b="0">
                <a:solidFill>
                  <a:srgbClr val="10263B"/>
                </a:solidFill>
              </a:defRPr>
            </a:lvl7pPr>
            <a:lvl8pPr>
              <a:defRPr sz="2100" b="0">
                <a:solidFill>
                  <a:srgbClr val="10263B"/>
                </a:solidFill>
              </a:defRPr>
            </a:lvl8pPr>
            <a:lvl9pPr>
              <a:defRPr sz="2100" b="0">
                <a:solidFill>
                  <a:srgbClr val="10263B"/>
                </a:solidFill>
              </a:defRPr>
            </a:lvl9pPr>
          </a:lstStyle>
          <a:p xmlns:a="http://schemas.openxmlformats.org/drawingml/2006/main">
            <a:pPr>
              <a:defRPr sz="2100" b="0">
                <a:solidFill>
                  <a:srgbClr val="10263B"/>
                </a:solidFill>
              </a:defRPr>
            </a:pPr>
            <a:r>
              <a:rPr sz="2100" b="0">
                <a:solidFill>
                  <a:srgbClr val="10263B"/>
                </a:solidFill>
              </a:rPr>
              <a:t>results/: CSV history, Q-table, summary, and route</a:t>
            </a:r>
          </a:p>
        </p:txBody>
      </p:sp>
      <p:sp>
        <p:nvSpPr>
          <p:cNvPr id="6" name="">
            <a:extLst xmlns:a="http://schemas.openxmlformats.org/drawingml/2006/main">
              <a:ext uri="{FF2B5EF4-FFF2-40B4-BE49-F238E27FC236}">
                <a16:creationId xmlns:a16="http://schemas.microsoft.com/office/drawing/2014/main" id="{70280501-E233-44B8-9483-386FB1AF8890}"/>
              </a:ext>
            </a:extLst>
          </p:cNvPr>
          <p:cNvSpPr>
            <a:spLocks xmlns:a="http://schemas.openxmlformats.org/drawingml/2006/main" noGrp="1"/>
          </p:cNvSpPr>
          <p:nvPr/>
        </p:nvSpPr>
        <p:spPr>
          <a:xfrm xmlns:a="http://schemas.openxmlformats.org/drawingml/2006/main">
            <a:off x="609600" y="3990975"/>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63B"/>
                </a:solidFill>
              </a:defRPr>
            </a:defPPr>
            <a:lvl1pPr>
              <a:defRPr sz="2100" b="0">
                <a:solidFill>
                  <a:srgbClr val="10263B"/>
                </a:solidFill>
              </a:defRPr>
            </a:lvl1pPr>
            <a:lvl2pPr>
              <a:defRPr sz="2100" b="0">
                <a:solidFill>
                  <a:srgbClr val="10263B"/>
                </a:solidFill>
              </a:defRPr>
            </a:lvl2pPr>
            <a:lvl3pPr>
              <a:defRPr sz="2100" b="0">
                <a:solidFill>
                  <a:srgbClr val="10263B"/>
                </a:solidFill>
              </a:defRPr>
            </a:lvl3pPr>
            <a:lvl4pPr>
              <a:defRPr sz="2100" b="0">
                <a:solidFill>
                  <a:srgbClr val="10263B"/>
                </a:solidFill>
              </a:defRPr>
            </a:lvl4pPr>
            <a:lvl5pPr>
              <a:defRPr sz="2100" b="0">
                <a:solidFill>
                  <a:srgbClr val="10263B"/>
                </a:solidFill>
              </a:defRPr>
            </a:lvl5pPr>
            <a:lvl6pPr>
              <a:defRPr sz="2100" b="0">
                <a:solidFill>
                  <a:srgbClr val="10263B"/>
                </a:solidFill>
              </a:defRPr>
            </a:lvl6pPr>
            <a:lvl7pPr>
              <a:defRPr sz="2100" b="0">
                <a:solidFill>
                  <a:srgbClr val="10263B"/>
                </a:solidFill>
              </a:defRPr>
            </a:lvl7pPr>
            <a:lvl8pPr>
              <a:defRPr sz="2100" b="0">
                <a:solidFill>
                  <a:srgbClr val="10263B"/>
                </a:solidFill>
              </a:defRPr>
            </a:lvl8pPr>
            <a:lvl9pPr>
              <a:defRPr sz="2100" b="0">
                <a:solidFill>
                  <a:srgbClr val="10263B"/>
                </a:solidFill>
              </a:defRPr>
            </a:lvl9pPr>
          </a:lstStyle>
          <a:p xmlns:a="http://schemas.openxmlformats.org/drawingml/2006/main">
            <a:pPr>
              <a:defRPr sz="2100" b="0">
                <a:solidFill>
                  <a:srgbClr val="10263B"/>
                </a:solidFill>
              </a:defRPr>
            </a:pPr>
            <a:r>
              <a:rPr sz="2100" b="0">
                <a:solidFill>
                  <a:srgbClr val="10263B"/>
                </a:solidFill>
              </a:rPr>
              <a:t>docs/ and presentation/: report and presentation</a:t>
            </a:r>
          </a:p>
        </p:txBody>
      </p:sp>
      <p:sp>
        <p:nvSpPr>
          <p:cNvPr id="7" name="">
            <a:extLst xmlns:a="http://schemas.openxmlformats.org/drawingml/2006/main">
              <a:ext uri="{FF2B5EF4-FFF2-40B4-BE49-F238E27FC236}">
                <a16:creationId xmlns:a16="http://schemas.microsoft.com/office/drawing/2014/main" id="{F1E3AC5B-4E00-437A-B9FC-D8A3EA040EA0}"/>
              </a:ext>
            </a:extLst>
          </p:cNvPr>
          <p:cNvSpPr>
            <a:spLocks xmlns:a="http://schemas.openxmlformats.org/drawingml/2006/main" noGrp="1"/>
          </p:cNvSpPr>
          <p:nvPr/>
        </p:nvSpPr>
        <p:spPr>
          <a:xfrm xmlns:a="http://schemas.openxmlformats.org/drawingml/2006/main">
            <a:off x="609600" y="50958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F8C"/>
                </a:solidFill>
              </a:defRPr>
            </a:defPPr>
            <a:lvl1pPr>
              <a:defRPr sz="2250" b="1">
                <a:solidFill>
                  <a:srgbClr val="087F8C"/>
                </a:solidFill>
              </a:defRPr>
            </a:lvl1pPr>
            <a:lvl2pPr>
              <a:defRPr sz="2250" b="1">
                <a:solidFill>
                  <a:srgbClr val="087F8C"/>
                </a:solidFill>
              </a:defRPr>
            </a:lvl2pPr>
            <a:lvl3pPr>
              <a:defRPr sz="2250" b="1">
                <a:solidFill>
                  <a:srgbClr val="087F8C"/>
                </a:solidFill>
              </a:defRPr>
            </a:lvl3pPr>
            <a:lvl4pPr>
              <a:defRPr sz="2250" b="1">
                <a:solidFill>
                  <a:srgbClr val="087F8C"/>
                </a:solidFill>
              </a:defRPr>
            </a:lvl4pPr>
            <a:lvl5pPr>
              <a:defRPr sz="2250" b="1">
                <a:solidFill>
                  <a:srgbClr val="087F8C"/>
                </a:solidFill>
              </a:defRPr>
            </a:lvl5pPr>
            <a:lvl6pPr>
              <a:defRPr sz="2250" b="1">
                <a:solidFill>
                  <a:srgbClr val="087F8C"/>
                </a:solidFill>
              </a:defRPr>
            </a:lvl6pPr>
            <a:lvl7pPr>
              <a:defRPr sz="2250" b="1">
                <a:solidFill>
                  <a:srgbClr val="087F8C"/>
                </a:solidFill>
              </a:defRPr>
            </a:lvl7pPr>
            <a:lvl8pPr>
              <a:defRPr sz="2250" b="1">
                <a:solidFill>
                  <a:srgbClr val="087F8C"/>
                </a:solidFill>
              </a:defRPr>
            </a:lvl8pPr>
            <a:lvl9pPr>
              <a:defRPr sz="2250" b="1">
                <a:solidFill>
                  <a:srgbClr val="087F8C"/>
                </a:solidFill>
              </a:defRPr>
            </a:lvl9pPr>
          </a:lstStyle>
          <a:p xmlns:a="http://schemas.openxmlformats.org/drawingml/2006/main">
            <a:pPr>
              <a:defRPr sz="2250" b="1">
                <a:solidFill>
                  <a:srgbClr val="087F8C"/>
                </a:solidFill>
              </a:defRPr>
            </a:pPr>
            <a:r>
              <a:rPr sz="2250" b="1">
                <a:solidFill>
                  <a:srgbClr val="087F8C"/>
                </a:solidFill>
              </a:rPr>
              <a:t>py gridworld.py</a:t>
            </a:r>
          </a:p>
          <a:p xmlns:a="http://schemas.openxmlformats.org/drawingml/2006/main">
            <a:pPr>
              <a:defRPr sz="2250" b="1">
                <a:solidFill>
                  <a:srgbClr val="087F8C"/>
                </a:solidFill>
              </a:defRPr>
            </a:pPr>
            <a:r>
              <a:rPr sz="2250" b="1">
                <a:solidFill>
                  <a:srgbClr val="087F8C"/>
                </a:solidFill>
              </a:rPr>
              <a:t>py -m unittest -v</a:t>
            </a:r>
          </a:p>
        </p:txBody>
      </p:sp>
    </p:spTree>
    <p:extLst>
      <p:ext uri="{BB962C8B-B14F-4D97-AF65-F5344CB8AC3E}">
        <p14:creationId xmlns:p14="http://schemas.microsoft.com/office/powerpoint/2010/main" val="584357267"/>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88A3F62-5C17-4FB9-B125-94CB6F619A3C}"/>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63B"/>
                </a:solidFill>
              </a:defRPr>
            </a:defPPr>
            <a:lvl1pPr>
              <a:defRPr sz="3300" b="1">
                <a:solidFill>
                  <a:srgbClr val="10263B"/>
                </a:solidFill>
              </a:defRPr>
            </a:lvl1pPr>
            <a:lvl2pPr>
              <a:defRPr sz="3300" b="1">
                <a:solidFill>
                  <a:srgbClr val="10263B"/>
                </a:solidFill>
              </a:defRPr>
            </a:lvl2pPr>
            <a:lvl3pPr>
              <a:defRPr sz="3300" b="1">
                <a:solidFill>
                  <a:srgbClr val="10263B"/>
                </a:solidFill>
              </a:defRPr>
            </a:lvl3pPr>
            <a:lvl4pPr>
              <a:defRPr sz="3300" b="1">
                <a:solidFill>
                  <a:srgbClr val="10263B"/>
                </a:solidFill>
              </a:defRPr>
            </a:lvl4pPr>
            <a:lvl5pPr>
              <a:defRPr sz="3300" b="1">
                <a:solidFill>
                  <a:srgbClr val="10263B"/>
                </a:solidFill>
              </a:defRPr>
            </a:lvl5pPr>
            <a:lvl6pPr>
              <a:defRPr sz="3300" b="1">
                <a:solidFill>
                  <a:srgbClr val="10263B"/>
                </a:solidFill>
              </a:defRPr>
            </a:lvl6pPr>
            <a:lvl7pPr>
              <a:defRPr sz="3300" b="1">
                <a:solidFill>
                  <a:srgbClr val="10263B"/>
                </a:solidFill>
              </a:defRPr>
            </a:lvl7pPr>
            <a:lvl8pPr>
              <a:defRPr sz="3300" b="1">
                <a:solidFill>
                  <a:srgbClr val="10263B"/>
                </a:solidFill>
              </a:defRPr>
            </a:lvl8pPr>
            <a:lvl9pPr>
              <a:defRPr sz="3300" b="1">
                <a:solidFill>
                  <a:srgbClr val="10263B"/>
                </a:solidFill>
              </a:defRPr>
            </a:lvl9pPr>
          </a:lstStyle>
          <a:p xmlns:a="http://schemas.openxmlformats.org/drawingml/2006/main">
            <a:pPr>
              <a:defRPr sz="3300" b="1">
                <a:solidFill>
                  <a:srgbClr val="10263B"/>
                </a:solidFill>
              </a:defRPr>
            </a:pPr>
            <a:r>
              <a:rPr sz="3300" b="1">
                <a:solidFill>
                  <a:srgbClr val="10263B"/>
                </a:solidFill>
              </a:rPr>
              <a:t>Training rewards improve as exploration falls</a:t>
            </a:r>
          </a:p>
        </p:txBody>
      </p:sp>
      <p:sp>
        <p:nvSpPr>
          <p:cNvPr id="2" name="">
            <a:extLst xmlns:a="http://schemas.openxmlformats.org/drawingml/2006/main">
              <a:ext uri="{FF2B5EF4-FFF2-40B4-BE49-F238E27FC236}">
                <a16:creationId xmlns:a16="http://schemas.microsoft.com/office/drawing/2014/main" id="{34FA9513-29A7-428F-8F53-FBEB6CC40514}"/>
              </a:ext>
            </a:extLst>
          </p:cNvPr>
          <p:cNvSpPr>
            <a:spLocks xmlns:a="http://schemas.openxmlformats.org/drawingml/2006/main" noGrp="1"/>
          </p:cNvSpPr>
          <p:nvPr/>
        </p:nvSpPr>
        <p:spPr>
          <a:xfrm xmlns:a="http://schemas.openxmlformats.org/drawingml/2006/main">
            <a:off x="1123950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86178"/>
                </a:solidFill>
              </a:defRPr>
            </a:defPPr>
            <a:lvl1pPr>
              <a:defRPr sz="1350" b="0">
                <a:solidFill>
                  <a:srgbClr val="486178"/>
                </a:solidFill>
              </a:defRPr>
            </a:lvl1pPr>
            <a:lvl2pPr>
              <a:defRPr sz="1350" b="0">
                <a:solidFill>
                  <a:srgbClr val="486178"/>
                </a:solidFill>
              </a:defRPr>
            </a:lvl2pPr>
            <a:lvl3pPr>
              <a:defRPr sz="1350" b="0">
                <a:solidFill>
                  <a:srgbClr val="486178"/>
                </a:solidFill>
              </a:defRPr>
            </a:lvl3pPr>
            <a:lvl4pPr>
              <a:defRPr sz="1350" b="0">
                <a:solidFill>
                  <a:srgbClr val="486178"/>
                </a:solidFill>
              </a:defRPr>
            </a:lvl4pPr>
            <a:lvl5pPr>
              <a:defRPr sz="1350" b="0">
                <a:solidFill>
                  <a:srgbClr val="486178"/>
                </a:solidFill>
              </a:defRPr>
            </a:lvl5pPr>
            <a:lvl6pPr>
              <a:defRPr sz="1350" b="0">
                <a:solidFill>
                  <a:srgbClr val="486178"/>
                </a:solidFill>
              </a:defRPr>
            </a:lvl6pPr>
            <a:lvl7pPr>
              <a:defRPr sz="1350" b="0">
                <a:solidFill>
                  <a:srgbClr val="486178"/>
                </a:solidFill>
              </a:defRPr>
            </a:lvl7pPr>
            <a:lvl8pPr>
              <a:defRPr sz="1350" b="0">
                <a:solidFill>
                  <a:srgbClr val="486178"/>
                </a:solidFill>
              </a:defRPr>
            </a:lvl8pPr>
            <a:lvl9pPr>
              <a:defRPr sz="1350" b="0">
                <a:solidFill>
                  <a:srgbClr val="486178"/>
                </a:solidFill>
              </a:defRPr>
            </a:lvl9pPr>
          </a:lstStyle>
          <a:p xmlns:a="http://schemas.openxmlformats.org/drawingml/2006/main">
            <a:pPr>
              <a:defRPr sz="1350" b="0">
                <a:solidFill>
                  <a:srgbClr val="486178"/>
                </a:solidFill>
              </a:defRPr>
            </a:pPr>
            <a:r>
              <a:rPr sz="1350" b="0">
                <a:solidFill>
                  <a:srgbClr val="486178"/>
                </a:solidFill>
              </a:rPr>
              <a:t>08</a:t>
            </a:r>
          </a:p>
        </p:txBody>
      </p:sp>
      <p:graphicFrame>
        <p:nvGraphicFramePr>
          <p:cNvPr id="3" name="Chart">
            <a:extLst xmlns:a="http://schemas.openxmlformats.org/drawingml/2006/main">
              <a:ext uri="{FF2B5EF4-FFF2-40B4-BE49-F238E27FC236}">
                <a16:creationId xmlns:a16="http://schemas.microsoft.com/office/drawing/2014/main" id="{FFCE3DF7-A354-4D3C-87B0-830E3398C29E}"/>
              </a:ext>
            </a:extLst>
          </p:cNvPr>
          <p:cNvGraphicFramePr/>
          <p:nvPr/>
        </p:nvGraphicFramePr>
        <p:xfrm>
          <a:off xmlns:a="http://schemas.openxmlformats.org/drawingml/2006/main" x="609600" y="1590675"/>
          <a:ext xmlns:a="http://schemas.openxmlformats.org/drawingml/2006/main" cx="10972800" cy="3952875"/>
        </p:xfrm>
        <a:graphic xmlns:a="http://schemas.openxmlformats.org/drawingml/2006/main">
          <a:graphicData uri="http://schemas.openxmlformats.org/drawingml/2006/chart">
            <c:chart xmlns:r="http://schemas.openxmlformats.org/officeDocument/2006/relationships" xmlns:c="http://schemas.openxmlformats.org/drawingml/2006/chart" r:id="R26e5853908d04589"/>
          </a:graphicData>
        </a:graphic>
      </p:graphicFrame>
      <p:sp>
        <p:nvSpPr>
          <p:cNvPr id="4" name="">
            <a:extLst xmlns:a="http://schemas.openxmlformats.org/drawingml/2006/main">
              <a:ext uri="{FF2B5EF4-FFF2-40B4-BE49-F238E27FC236}">
                <a16:creationId xmlns:a16="http://schemas.microsoft.com/office/drawing/2014/main" id="{A51CF41A-86AC-480F-B7F1-37F4B007AAD2}"/>
              </a:ext>
            </a:extLst>
          </p:cNvPr>
          <p:cNvSpPr>
            <a:spLocks xmlns:a="http://schemas.openxmlformats.org/drawingml/2006/main" noGrp="1"/>
          </p:cNvSpPr>
          <p:nvPr/>
        </p:nvSpPr>
        <p:spPr>
          <a:xfrm xmlns:a="http://schemas.openxmlformats.org/drawingml/2006/main">
            <a:off x="1143000" y="5372100"/>
            <a:ext cx="714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86178"/>
                </a:solidFill>
              </a:defRPr>
            </a:defPPr>
            <a:lvl1pPr>
              <a:defRPr sz="1575" b="0">
                <a:solidFill>
                  <a:srgbClr val="486178"/>
                </a:solidFill>
              </a:defRPr>
            </a:lvl1pPr>
            <a:lvl2pPr>
              <a:defRPr sz="1575" b="0">
                <a:solidFill>
                  <a:srgbClr val="486178"/>
                </a:solidFill>
              </a:defRPr>
            </a:lvl2pPr>
            <a:lvl3pPr>
              <a:defRPr sz="1575" b="0">
                <a:solidFill>
                  <a:srgbClr val="486178"/>
                </a:solidFill>
              </a:defRPr>
            </a:lvl3pPr>
            <a:lvl4pPr>
              <a:defRPr sz="1575" b="0">
                <a:solidFill>
                  <a:srgbClr val="486178"/>
                </a:solidFill>
              </a:defRPr>
            </a:lvl4pPr>
            <a:lvl5pPr>
              <a:defRPr sz="1575" b="0">
                <a:solidFill>
                  <a:srgbClr val="486178"/>
                </a:solidFill>
              </a:defRPr>
            </a:lvl5pPr>
            <a:lvl6pPr>
              <a:defRPr sz="1575" b="0">
                <a:solidFill>
                  <a:srgbClr val="486178"/>
                </a:solidFill>
              </a:defRPr>
            </a:lvl6pPr>
            <a:lvl7pPr>
              <a:defRPr sz="1575" b="0">
                <a:solidFill>
                  <a:srgbClr val="486178"/>
                </a:solidFill>
              </a:defRPr>
            </a:lvl7pPr>
            <a:lvl8pPr>
              <a:defRPr sz="1575" b="0">
                <a:solidFill>
                  <a:srgbClr val="486178"/>
                </a:solidFill>
              </a:defRPr>
            </a:lvl8pPr>
            <a:lvl9pPr>
              <a:defRPr sz="1575" b="0">
                <a:solidFill>
                  <a:srgbClr val="486178"/>
                </a:solidFill>
              </a:defRPr>
            </a:lvl9pPr>
          </a:lstStyle>
          <a:p xmlns:a="http://schemas.openxmlformats.org/drawingml/2006/main">
            <a:pPr>
              <a:defRPr sz="1575" b="0">
                <a:solidFill>
                  <a:srgbClr val="486178"/>
                </a:solidFill>
              </a:defRPr>
            </a:pPr>
            <a:r>
              <a:rPr sz="1575" b="0">
                <a:solidFill>
                  <a:srgbClr val="486178"/>
                </a:solidFill>
              </a:rPr>
              <a:t>100</a:t>
            </a:r>
          </a:p>
        </p:txBody>
      </p:sp>
      <p:sp>
        <p:nvSpPr>
          <p:cNvPr id="5" name="">
            <a:extLst xmlns:a="http://schemas.openxmlformats.org/drawingml/2006/main">
              <a:ext uri="{FF2B5EF4-FFF2-40B4-BE49-F238E27FC236}">
                <a16:creationId xmlns:a16="http://schemas.microsoft.com/office/drawing/2014/main" id="{31275985-395C-4BD3-87C5-D8060B70A9A0}"/>
              </a:ext>
            </a:extLst>
          </p:cNvPr>
          <p:cNvSpPr>
            <a:spLocks xmlns:a="http://schemas.openxmlformats.org/drawingml/2006/main" noGrp="1"/>
          </p:cNvSpPr>
          <p:nvPr/>
        </p:nvSpPr>
        <p:spPr>
          <a:xfrm xmlns:a="http://schemas.openxmlformats.org/drawingml/2006/main">
            <a:off x="2495550" y="5372100"/>
            <a:ext cx="714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86178"/>
                </a:solidFill>
              </a:defRPr>
            </a:defPPr>
            <a:lvl1pPr>
              <a:defRPr sz="1575" b="0">
                <a:solidFill>
                  <a:srgbClr val="486178"/>
                </a:solidFill>
              </a:defRPr>
            </a:lvl1pPr>
            <a:lvl2pPr>
              <a:defRPr sz="1575" b="0">
                <a:solidFill>
                  <a:srgbClr val="486178"/>
                </a:solidFill>
              </a:defRPr>
            </a:lvl2pPr>
            <a:lvl3pPr>
              <a:defRPr sz="1575" b="0">
                <a:solidFill>
                  <a:srgbClr val="486178"/>
                </a:solidFill>
              </a:defRPr>
            </a:lvl3pPr>
            <a:lvl4pPr>
              <a:defRPr sz="1575" b="0">
                <a:solidFill>
                  <a:srgbClr val="486178"/>
                </a:solidFill>
              </a:defRPr>
            </a:lvl4pPr>
            <a:lvl5pPr>
              <a:defRPr sz="1575" b="0">
                <a:solidFill>
                  <a:srgbClr val="486178"/>
                </a:solidFill>
              </a:defRPr>
            </a:lvl5pPr>
            <a:lvl6pPr>
              <a:defRPr sz="1575" b="0">
                <a:solidFill>
                  <a:srgbClr val="486178"/>
                </a:solidFill>
              </a:defRPr>
            </a:lvl6pPr>
            <a:lvl7pPr>
              <a:defRPr sz="1575" b="0">
                <a:solidFill>
                  <a:srgbClr val="486178"/>
                </a:solidFill>
              </a:defRPr>
            </a:lvl7pPr>
            <a:lvl8pPr>
              <a:defRPr sz="1575" b="0">
                <a:solidFill>
                  <a:srgbClr val="486178"/>
                </a:solidFill>
              </a:defRPr>
            </a:lvl8pPr>
            <a:lvl9pPr>
              <a:defRPr sz="1575" b="0">
                <a:solidFill>
                  <a:srgbClr val="486178"/>
                </a:solidFill>
              </a:defRPr>
            </a:lvl9pPr>
          </a:lstStyle>
          <a:p xmlns:a="http://schemas.openxmlformats.org/drawingml/2006/main">
            <a:pPr>
              <a:defRPr sz="1575" b="0">
                <a:solidFill>
                  <a:srgbClr val="486178"/>
                </a:solidFill>
              </a:defRPr>
            </a:pPr>
            <a:r>
              <a:rPr sz="1575" b="0">
                <a:solidFill>
                  <a:srgbClr val="486178"/>
                </a:solidFill>
              </a:rPr>
              <a:t>500</a:t>
            </a:r>
          </a:p>
        </p:txBody>
      </p:sp>
      <p:sp>
        <p:nvSpPr>
          <p:cNvPr id="6" name="">
            <a:extLst xmlns:a="http://schemas.openxmlformats.org/drawingml/2006/main">
              <a:ext uri="{FF2B5EF4-FFF2-40B4-BE49-F238E27FC236}">
                <a16:creationId xmlns:a16="http://schemas.microsoft.com/office/drawing/2014/main" id="{3C41BEAE-7809-427D-9FD6-32CA6DA40AC0}"/>
              </a:ext>
            </a:extLst>
          </p:cNvPr>
          <p:cNvSpPr>
            <a:spLocks xmlns:a="http://schemas.openxmlformats.org/drawingml/2006/main" noGrp="1"/>
          </p:cNvSpPr>
          <p:nvPr/>
        </p:nvSpPr>
        <p:spPr>
          <a:xfrm xmlns:a="http://schemas.openxmlformats.org/drawingml/2006/main">
            <a:off x="4186238" y="5372100"/>
            <a:ext cx="714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86178"/>
                </a:solidFill>
              </a:defRPr>
            </a:defPPr>
            <a:lvl1pPr>
              <a:defRPr sz="1575" b="0">
                <a:solidFill>
                  <a:srgbClr val="486178"/>
                </a:solidFill>
              </a:defRPr>
            </a:lvl1pPr>
            <a:lvl2pPr>
              <a:defRPr sz="1575" b="0">
                <a:solidFill>
                  <a:srgbClr val="486178"/>
                </a:solidFill>
              </a:defRPr>
            </a:lvl2pPr>
            <a:lvl3pPr>
              <a:defRPr sz="1575" b="0">
                <a:solidFill>
                  <a:srgbClr val="486178"/>
                </a:solidFill>
              </a:defRPr>
            </a:lvl3pPr>
            <a:lvl4pPr>
              <a:defRPr sz="1575" b="0">
                <a:solidFill>
                  <a:srgbClr val="486178"/>
                </a:solidFill>
              </a:defRPr>
            </a:lvl4pPr>
            <a:lvl5pPr>
              <a:defRPr sz="1575" b="0">
                <a:solidFill>
                  <a:srgbClr val="486178"/>
                </a:solidFill>
              </a:defRPr>
            </a:lvl5pPr>
            <a:lvl6pPr>
              <a:defRPr sz="1575" b="0">
                <a:solidFill>
                  <a:srgbClr val="486178"/>
                </a:solidFill>
              </a:defRPr>
            </a:lvl6pPr>
            <a:lvl7pPr>
              <a:defRPr sz="1575" b="0">
                <a:solidFill>
                  <a:srgbClr val="486178"/>
                </a:solidFill>
              </a:defRPr>
            </a:lvl7pPr>
            <a:lvl8pPr>
              <a:defRPr sz="1575" b="0">
                <a:solidFill>
                  <a:srgbClr val="486178"/>
                </a:solidFill>
              </a:defRPr>
            </a:lvl8pPr>
            <a:lvl9pPr>
              <a:defRPr sz="1575" b="0">
                <a:solidFill>
                  <a:srgbClr val="486178"/>
                </a:solidFill>
              </a:defRPr>
            </a:lvl9pPr>
          </a:lstStyle>
          <a:p xmlns:a="http://schemas.openxmlformats.org/drawingml/2006/main">
            <a:pPr>
              <a:defRPr sz="1575" b="0">
                <a:solidFill>
                  <a:srgbClr val="486178"/>
                </a:solidFill>
              </a:defRPr>
            </a:pPr>
            <a:r>
              <a:rPr sz="1575" b="0">
                <a:solidFill>
                  <a:srgbClr val="486178"/>
                </a:solidFill>
              </a:rPr>
              <a:t>1000</a:t>
            </a:r>
          </a:p>
        </p:txBody>
      </p:sp>
      <p:sp>
        <p:nvSpPr>
          <p:cNvPr id="7" name="">
            <a:extLst xmlns:a="http://schemas.openxmlformats.org/drawingml/2006/main">
              <a:ext uri="{FF2B5EF4-FFF2-40B4-BE49-F238E27FC236}">
                <a16:creationId xmlns:a16="http://schemas.microsoft.com/office/drawing/2014/main" id="{61FA31CE-052D-4E96-B56E-DFCC2A0D63AD}"/>
              </a:ext>
            </a:extLst>
          </p:cNvPr>
          <p:cNvSpPr>
            <a:spLocks xmlns:a="http://schemas.openxmlformats.org/drawingml/2006/main" noGrp="1"/>
          </p:cNvSpPr>
          <p:nvPr/>
        </p:nvSpPr>
        <p:spPr>
          <a:xfrm xmlns:a="http://schemas.openxmlformats.org/drawingml/2006/main">
            <a:off x="5876925" y="5372100"/>
            <a:ext cx="714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86178"/>
                </a:solidFill>
              </a:defRPr>
            </a:defPPr>
            <a:lvl1pPr>
              <a:defRPr sz="1575" b="0">
                <a:solidFill>
                  <a:srgbClr val="486178"/>
                </a:solidFill>
              </a:defRPr>
            </a:lvl1pPr>
            <a:lvl2pPr>
              <a:defRPr sz="1575" b="0">
                <a:solidFill>
                  <a:srgbClr val="486178"/>
                </a:solidFill>
              </a:defRPr>
            </a:lvl2pPr>
            <a:lvl3pPr>
              <a:defRPr sz="1575" b="0">
                <a:solidFill>
                  <a:srgbClr val="486178"/>
                </a:solidFill>
              </a:defRPr>
            </a:lvl3pPr>
            <a:lvl4pPr>
              <a:defRPr sz="1575" b="0">
                <a:solidFill>
                  <a:srgbClr val="486178"/>
                </a:solidFill>
              </a:defRPr>
            </a:lvl4pPr>
            <a:lvl5pPr>
              <a:defRPr sz="1575" b="0">
                <a:solidFill>
                  <a:srgbClr val="486178"/>
                </a:solidFill>
              </a:defRPr>
            </a:lvl5pPr>
            <a:lvl6pPr>
              <a:defRPr sz="1575" b="0">
                <a:solidFill>
                  <a:srgbClr val="486178"/>
                </a:solidFill>
              </a:defRPr>
            </a:lvl6pPr>
            <a:lvl7pPr>
              <a:defRPr sz="1575" b="0">
                <a:solidFill>
                  <a:srgbClr val="486178"/>
                </a:solidFill>
              </a:defRPr>
            </a:lvl7pPr>
            <a:lvl8pPr>
              <a:defRPr sz="1575" b="0">
                <a:solidFill>
                  <a:srgbClr val="486178"/>
                </a:solidFill>
              </a:defRPr>
            </a:lvl8pPr>
            <a:lvl9pPr>
              <a:defRPr sz="1575" b="0">
                <a:solidFill>
                  <a:srgbClr val="486178"/>
                </a:solidFill>
              </a:defRPr>
            </a:lvl9pPr>
          </a:lstStyle>
          <a:p xmlns:a="http://schemas.openxmlformats.org/drawingml/2006/main">
            <a:pPr>
              <a:defRPr sz="1575" b="0">
                <a:solidFill>
                  <a:srgbClr val="486178"/>
                </a:solidFill>
              </a:defRPr>
            </a:pPr>
            <a:r>
              <a:rPr sz="1575" b="0">
                <a:solidFill>
                  <a:srgbClr val="486178"/>
                </a:solidFill>
              </a:rPr>
              <a:t>1500</a:t>
            </a:r>
          </a:p>
        </p:txBody>
      </p:sp>
      <p:sp>
        <p:nvSpPr>
          <p:cNvPr id="8" name="">
            <a:extLst xmlns:a="http://schemas.openxmlformats.org/drawingml/2006/main">
              <a:ext uri="{FF2B5EF4-FFF2-40B4-BE49-F238E27FC236}">
                <a16:creationId xmlns:a16="http://schemas.microsoft.com/office/drawing/2014/main" id="{9A1C98B3-1EA4-4539-97E2-D790DF8043C9}"/>
              </a:ext>
            </a:extLst>
          </p:cNvPr>
          <p:cNvSpPr>
            <a:spLocks xmlns:a="http://schemas.openxmlformats.org/drawingml/2006/main" noGrp="1"/>
          </p:cNvSpPr>
          <p:nvPr/>
        </p:nvSpPr>
        <p:spPr>
          <a:xfrm xmlns:a="http://schemas.openxmlformats.org/drawingml/2006/main">
            <a:off x="7567613" y="5372100"/>
            <a:ext cx="714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86178"/>
                </a:solidFill>
              </a:defRPr>
            </a:defPPr>
            <a:lvl1pPr>
              <a:defRPr sz="1575" b="0">
                <a:solidFill>
                  <a:srgbClr val="486178"/>
                </a:solidFill>
              </a:defRPr>
            </a:lvl1pPr>
            <a:lvl2pPr>
              <a:defRPr sz="1575" b="0">
                <a:solidFill>
                  <a:srgbClr val="486178"/>
                </a:solidFill>
              </a:defRPr>
            </a:lvl2pPr>
            <a:lvl3pPr>
              <a:defRPr sz="1575" b="0">
                <a:solidFill>
                  <a:srgbClr val="486178"/>
                </a:solidFill>
              </a:defRPr>
            </a:lvl3pPr>
            <a:lvl4pPr>
              <a:defRPr sz="1575" b="0">
                <a:solidFill>
                  <a:srgbClr val="486178"/>
                </a:solidFill>
              </a:defRPr>
            </a:lvl4pPr>
            <a:lvl5pPr>
              <a:defRPr sz="1575" b="0">
                <a:solidFill>
                  <a:srgbClr val="486178"/>
                </a:solidFill>
              </a:defRPr>
            </a:lvl5pPr>
            <a:lvl6pPr>
              <a:defRPr sz="1575" b="0">
                <a:solidFill>
                  <a:srgbClr val="486178"/>
                </a:solidFill>
              </a:defRPr>
            </a:lvl6pPr>
            <a:lvl7pPr>
              <a:defRPr sz="1575" b="0">
                <a:solidFill>
                  <a:srgbClr val="486178"/>
                </a:solidFill>
              </a:defRPr>
            </a:lvl7pPr>
            <a:lvl8pPr>
              <a:defRPr sz="1575" b="0">
                <a:solidFill>
                  <a:srgbClr val="486178"/>
                </a:solidFill>
              </a:defRPr>
            </a:lvl8pPr>
            <a:lvl9pPr>
              <a:defRPr sz="1575" b="0">
                <a:solidFill>
                  <a:srgbClr val="486178"/>
                </a:solidFill>
              </a:defRPr>
            </a:lvl9pPr>
          </a:lstStyle>
          <a:p xmlns:a="http://schemas.openxmlformats.org/drawingml/2006/main">
            <a:pPr>
              <a:defRPr sz="1575" b="0">
                <a:solidFill>
                  <a:srgbClr val="486178"/>
                </a:solidFill>
              </a:defRPr>
            </a:pPr>
            <a:r>
              <a:rPr sz="1575" b="0">
                <a:solidFill>
                  <a:srgbClr val="486178"/>
                </a:solidFill>
              </a:rPr>
              <a:t>2000</a:t>
            </a:r>
          </a:p>
        </p:txBody>
      </p:sp>
      <p:sp>
        <p:nvSpPr>
          <p:cNvPr id="9" name="">
            <a:extLst xmlns:a="http://schemas.openxmlformats.org/drawingml/2006/main">
              <a:ext uri="{FF2B5EF4-FFF2-40B4-BE49-F238E27FC236}">
                <a16:creationId xmlns:a16="http://schemas.microsoft.com/office/drawing/2014/main" id="{398D5D34-3ADD-4E9E-8828-894FB86153F9}"/>
              </a:ext>
            </a:extLst>
          </p:cNvPr>
          <p:cNvSpPr>
            <a:spLocks xmlns:a="http://schemas.openxmlformats.org/drawingml/2006/main" noGrp="1"/>
          </p:cNvSpPr>
          <p:nvPr/>
        </p:nvSpPr>
        <p:spPr>
          <a:xfrm xmlns:a="http://schemas.openxmlformats.org/drawingml/2006/main">
            <a:off x="9258300" y="5372100"/>
            <a:ext cx="714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86178"/>
                </a:solidFill>
              </a:defRPr>
            </a:defPPr>
            <a:lvl1pPr>
              <a:defRPr sz="1575" b="0">
                <a:solidFill>
                  <a:srgbClr val="486178"/>
                </a:solidFill>
              </a:defRPr>
            </a:lvl1pPr>
            <a:lvl2pPr>
              <a:defRPr sz="1575" b="0">
                <a:solidFill>
                  <a:srgbClr val="486178"/>
                </a:solidFill>
              </a:defRPr>
            </a:lvl2pPr>
            <a:lvl3pPr>
              <a:defRPr sz="1575" b="0">
                <a:solidFill>
                  <a:srgbClr val="486178"/>
                </a:solidFill>
              </a:defRPr>
            </a:lvl3pPr>
            <a:lvl4pPr>
              <a:defRPr sz="1575" b="0">
                <a:solidFill>
                  <a:srgbClr val="486178"/>
                </a:solidFill>
              </a:defRPr>
            </a:lvl4pPr>
            <a:lvl5pPr>
              <a:defRPr sz="1575" b="0">
                <a:solidFill>
                  <a:srgbClr val="486178"/>
                </a:solidFill>
              </a:defRPr>
            </a:lvl5pPr>
            <a:lvl6pPr>
              <a:defRPr sz="1575" b="0">
                <a:solidFill>
                  <a:srgbClr val="486178"/>
                </a:solidFill>
              </a:defRPr>
            </a:lvl6pPr>
            <a:lvl7pPr>
              <a:defRPr sz="1575" b="0">
                <a:solidFill>
                  <a:srgbClr val="486178"/>
                </a:solidFill>
              </a:defRPr>
            </a:lvl7pPr>
            <a:lvl8pPr>
              <a:defRPr sz="1575" b="0">
                <a:solidFill>
                  <a:srgbClr val="486178"/>
                </a:solidFill>
              </a:defRPr>
            </a:lvl8pPr>
            <a:lvl9pPr>
              <a:defRPr sz="1575" b="0">
                <a:solidFill>
                  <a:srgbClr val="486178"/>
                </a:solidFill>
              </a:defRPr>
            </a:lvl9pPr>
          </a:lstStyle>
          <a:p xmlns:a="http://schemas.openxmlformats.org/drawingml/2006/main">
            <a:pPr>
              <a:defRPr sz="1575" b="0">
                <a:solidFill>
                  <a:srgbClr val="486178"/>
                </a:solidFill>
              </a:defRPr>
            </a:pPr>
            <a:r>
              <a:rPr sz="1575" b="0">
                <a:solidFill>
                  <a:srgbClr val="486178"/>
                </a:solidFill>
              </a:rPr>
              <a:t>2500</a:t>
            </a:r>
          </a:p>
        </p:txBody>
      </p:sp>
      <p:sp>
        <p:nvSpPr>
          <p:cNvPr id="10" name="">
            <a:extLst xmlns:a="http://schemas.openxmlformats.org/drawingml/2006/main">
              <a:ext uri="{FF2B5EF4-FFF2-40B4-BE49-F238E27FC236}">
                <a16:creationId xmlns:a16="http://schemas.microsoft.com/office/drawing/2014/main" id="{6E9982B4-4E89-42D5-8042-08CB2D2F605F}"/>
              </a:ext>
            </a:extLst>
          </p:cNvPr>
          <p:cNvSpPr>
            <a:spLocks xmlns:a="http://schemas.openxmlformats.org/drawingml/2006/main" noGrp="1"/>
          </p:cNvSpPr>
          <p:nvPr/>
        </p:nvSpPr>
        <p:spPr>
          <a:xfrm xmlns:a="http://schemas.openxmlformats.org/drawingml/2006/main">
            <a:off x="10948988" y="5372100"/>
            <a:ext cx="714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86178"/>
                </a:solidFill>
              </a:defRPr>
            </a:defPPr>
            <a:lvl1pPr>
              <a:defRPr sz="1575" b="0">
                <a:solidFill>
                  <a:srgbClr val="486178"/>
                </a:solidFill>
              </a:defRPr>
            </a:lvl1pPr>
            <a:lvl2pPr>
              <a:defRPr sz="1575" b="0">
                <a:solidFill>
                  <a:srgbClr val="486178"/>
                </a:solidFill>
              </a:defRPr>
            </a:lvl2pPr>
            <a:lvl3pPr>
              <a:defRPr sz="1575" b="0">
                <a:solidFill>
                  <a:srgbClr val="486178"/>
                </a:solidFill>
              </a:defRPr>
            </a:lvl3pPr>
            <a:lvl4pPr>
              <a:defRPr sz="1575" b="0">
                <a:solidFill>
                  <a:srgbClr val="486178"/>
                </a:solidFill>
              </a:defRPr>
            </a:lvl4pPr>
            <a:lvl5pPr>
              <a:defRPr sz="1575" b="0">
                <a:solidFill>
                  <a:srgbClr val="486178"/>
                </a:solidFill>
              </a:defRPr>
            </a:lvl5pPr>
            <a:lvl6pPr>
              <a:defRPr sz="1575" b="0">
                <a:solidFill>
                  <a:srgbClr val="486178"/>
                </a:solidFill>
              </a:defRPr>
            </a:lvl6pPr>
            <a:lvl7pPr>
              <a:defRPr sz="1575" b="0">
                <a:solidFill>
                  <a:srgbClr val="486178"/>
                </a:solidFill>
              </a:defRPr>
            </a:lvl7pPr>
            <a:lvl8pPr>
              <a:defRPr sz="1575" b="0">
                <a:solidFill>
                  <a:srgbClr val="486178"/>
                </a:solidFill>
              </a:defRPr>
            </a:lvl8pPr>
            <a:lvl9pPr>
              <a:defRPr sz="1575" b="0">
                <a:solidFill>
                  <a:srgbClr val="486178"/>
                </a:solidFill>
              </a:defRPr>
            </a:lvl9pPr>
          </a:lstStyle>
          <a:p xmlns:a="http://schemas.openxmlformats.org/drawingml/2006/main">
            <a:pPr>
              <a:defRPr sz="1575" b="0">
                <a:solidFill>
                  <a:srgbClr val="486178"/>
                </a:solidFill>
              </a:defRPr>
            </a:pPr>
            <a:r>
              <a:rPr sz="1575" b="0">
                <a:solidFill>
                  <a:srgbClr val="486178"/>
                </a:solidFill>
              </a:rPr>
              <a:t>3000</a:t>
            </a:r>
          </a:p>
        </p:txBody>
      </p:sp>
      <p:sp>
        <p:nvSpPr>
          <p:cNvPr id="11" name="">
            <a:extLst xmlns:a="http://schemas.openxmlformats.org/drawingml/2006/main">
              <a:ext uri="{FF2B5EF4-FFF2-40B4-BE49-F238E27FC236}">
                <a16:creationId xmlns:a16="http://schemas.microsoft.com/office/drawing/2014/main" id="{D35DFC71-6DEB-4CA0-9398-53662BCE5EA9}"/>
              </a:ext>
            </a:extLst>
          </p:cNvPr>
          <p:cNvSpPr>
            <a:spLocks xmlns:a="http://schemas.openxmlformats.org/drawingml/2006/main" noGrp="1"/>
          </p:cNvSpPr>
          <p:nvPr/>
        </p:nvSpPr>
        <p:spPr>
          <a:xfrm xmlns:a="http://schemas.openxmlformats.org/drawingml/2006/main">
            <a:off x="609600" y="57626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86178"/>
                </a:solidFill>
              </a:defRPr>
            </a:defPPr>
            <a:lvl1pPr>
              <a:defRPr sz="1875" b="0">
                <a:solidFill>
                  <a:srgbClr val="486178"/>
                </a:solidFill>
              </a:defRPr>
            </a:lvl1pPr>
            <a:lvl2pPr>
              <a:defRPr sz="1875" b="0">
                <a:solidFill>
                  <a:srgbClr val="486178"/>
                </a:solidFill>
              </a:defRPr>
            </a:lvl2pPr>
            <a:lvl3pPr>
              <a:defRPr sz="1875" b="0">
                <a:solidFill>
                  <a:srgbClr val="486178"/>
                </a:solidFill>
              </a:defRPr>
            </a:lvl3pPr>
            <a:lvl4pPr>
              <a:defRPr sz="1875" b="0">
                <a:solidFill>
                  <a:srgbClr val="486178"/>
                </a:solidFill>
              </a:defRPr>
            </a:lvl4pPr>
            <a:lvl5pPr>
              <a:defRPr sz="1875" b="0">
                <a:solidFill>
                  <a:srgbClr val="486178"/>
                </a:solidFill>
              </a:defRPr>
            </a:lvl5pPr>
            <a:lvl6pPr>
              <a:defRPr sz="1875" b="0">
                <a:solidFill>
                  <a:srgbClr val="486178"/>
                </a:solidFill>
              </a:defRPr>
            </a:lvl6pPr>
            <a:lvl7pPr>
              <a:defRPr sz="1875" b="0">
                <a:solidFill>
                  <a:srgbClr val="486178"/>
                </a:solidFill>
              </a:defRPr>
            </a:lvl7pPr>
            <a:lvl8pPr>
              <a:defRPr sz="1875" b="0">
                <a:solidFill>
                  <a:srgbClr val="486178"/>
                </a:solidFill>
              </a:defRPr>
            </a:lvl8pPr>
            <a:lvl9pPr>
              <a:defRPr sz="1875" b="0">
                <a:solidFill>
                  <a:srgbClr val="486178"/>
                </a:solidFill>
              </a:defRPr>
            </a:lvl9pPr>
          </a:lstStyle>
          <a:p xmlns:a="http://schemas.openxmlformats.org/drawingml/2006/main">
            <a:pPr>
              <a:defRPr sz="1875" b="0">
                <a:solidFill>
                  <a:srgbClr val="486178"/>
                </a:solidFill>
              </a:defRPr>
            </a:pPr>
            <a:r>
              <a:rPr sz="1875" b="0">
                <a:solidFill>
                  <a:srgbClr val="486178"/>
                </a:solidFill>
              </a:rPr>
              <a:t>Mean total reward by episode, averaged in blocks of 100. Seed 42.</a:t>
            </a:r>
          </a:p>
        </p:txBody>
      </p:sp>
    </p:spTree>
    <p:extLst>
      <p:ext uri="{BB962C8B-B14F-4D97-AF65-F5344CB8AC3E}">
        <p14:creationId xmlns:p14="http://schemas.microsoft.com/office/powerpoint/2010/main" val="1457442205"/>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6C4CC4D-289F-4D16-B7CF-3390DCA0EABD}"/>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63B"/>
                </a:solidFill>
              </a:defRPr>
            </a:defPPr>
            <a:lvl1pPr>
              <a:defRPr sz="3300" b="1">
                <a:solidFill>
                  <a:srgbClr val="10263B"/>
                </a:solidFill>
              </a:defRPr>
            </a:lvl1pPr>
            <a:lvl2pPr>
              <a:defRPr sz="3300" b="1">
                <a:solidFill>
                  <a:srgbClr val="10263B"/>
                </a:solidFill>
              </a:defRPr>
            </a:lvl2pPr>
            <a:lvl3pPr>
              <a:defRPr sz="3300" b="1">
                <a:solidFill>
                  <a:srgbClr val="10263B"/>
                </a:solidFill>
              </a:defRPr>
            </a:lvl3pPr>
            <a:lvl4pPr>
              <a:defRPr sz="3300" b="1">
                <a:solidFill>
                  <a:srgbClr val="10263B"/>
                </a:solidFill>
              </a:defRPr>
            </a:lvl4pPr>
            <a:lvl5pPr>
              <a:defRPr sz="3300" b="1">
                <a:solidFill>
                  <a:srgbClr val="10263B"/>
                </a:solidFill>
              </a:defRPr>
            </a:lvl5pPr>
            <a:lvl6pPr>
              <a:defRPr sz="3300" b="1">
                <a:solidFill>
                  <a:srgbClr val="10263B"/>
                </a:solidFill>
              </a:defRPr>
            </a:lvl6pPr>
            <a:lvl7pPr>
              <a:defRPr sz="3300" b="1">
                <a:solidFill>
                  <a:srgbClr val="10263B"/>
                </a:solidFill>
              </a:defRPr>
            </a:lvl7pPr>
            <a:lvl8pPr>
              <a:defRPr sz="3300" b="1">
                <a:solidFill>
                  <a:srgbClr val="10263B"/>
                </a:solidFill>
              </a:defRPr>
            </a:lvl8pPr>
            <a:lvl9pPr>
              <a:defRPr sz="3300" b="1">
                <a:solidFill>
                  <a:srgbClr val="10263B"/>
                </a:solidFill>
              </a:defRPr>
            </a:lvl9pPr>
          </a:lstStyle>
          <a:p xmlns:a="http://schemas.openxmlformats.org/drawingml/2006/main">
            <a:pPr>
              <a:defRPr sz="3300" b="1">
                <a:solidFill>
                  <a:srgbClr val="10263B"/>
                </a:solidFill>
              </a:defRPr>
            </a:pPr>
            <a:r>
              <a:rPr sz="3300" b="1">
                <a:solidFill>
                  <a:srgbClr val="10263B"/>
                </a:solidFill>
              </a:rPr>
              <a:t>The learned route reaches the goal in 10 moves</a:t>
            </a:r>
          </a:p>
        </p:txBody>
      </p:sp>
      <p:sp>
        <p:nvSpPr>
          <p:cNvPr id="2" name="">
            <a:extLst xmlns:a="http://schemas.openxmlformats.org/drawingml/2006/main">
              <a:ext uri="{FF2B5EF4-FFF2-40B4-BE49-F238E27FC236}">
                <a16:creationId xmlns:a16="http://schemas.microsoft.com/office/drawing/2014/main" id="{5C014FBD-29B3-48E4-A32D-6977E429A43F}"/>
              </a:ext>
            </a:extLst>
          </p:cNvPr>
          <p:cNvSpPr>
            <a:spLocks xmlns:a="http://schemas.openxmlformats.org/drawingml/2006/main" noGrp="1"/>
          </p:cNvSpPr>
          <p:nvPr/>
        </p:nvSpPr>
        <p:spPr>
          <a:xfrm xmlns:a="http://schemas.openxmlformats.org/drawingml/2006/main">
            <a:off x="1123950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86178"/>
                </a:solidFill>
              </a:defRPr>
            </a:defPPr>
            <a:lvl1pPr>
              <a:defRPr sz="1350" b="0">
                <a:solidFill>
                  <a:srgbClr val="486178"/>
                </a:solidFill>
              </a:defRPr>
            </a:lvl1pPr>
            <a:lvl2pPr>
              <a:defRPr sz="1350" b="0">
                <a:solidFill>
                  <a:srgbClr val="486178"/>
                </a:solidFill>
              </a:defRPr>
            </a:lvl2pPr>
            <a:lvl3pPr>
              <a:defRPr sz="1350" b="0">
                <a:solidFill>
                  <a:srgbClr val="486178"/>
                </a:solidFill>
              </a:defRPr>
            </a:lvl3pPr>
            <a:lvl4pPr>
              <a:defRPr sz="1350" b="0">
                <a:solidFill>
                  <a:srgbClr val="486178"/>
                </a:solidFill>
              </a:defRPr>
            </a:lvl4pPr>
            <a:lvl5pPr>
              <a:defRPr sz="1350" b="0">
                <a:solidFill>
                  <a:srgbClr val="486178"/>
                </a:solidFill>
              </a:defRPr>
            </a:lvl5pPr>
            <a:lvl6pPr>
              <a:defRPr sz="1350" b="0">
                <a:solidFill>
                  <a:srgbClr val="486178"/>
                </a:solidFill>
              </a:defRPr>
            </a:lvl6pPr>
            <a:lvl7pPr>
              <a:defRPr sz="1350" b="0">
                <a:solidFill>
                  <a:srgbClr val="486178"/>
                </a:solidFill>
              </a:defRPr>
            </a:lvl7pPr>
            <a:lvl8pPr>
              <a:defRPr sz="1350" b="0">
                <a:solidFill>
                  <a:srgbClr val="486178"/>
                </a:solidFill>
              </a:defRPr>
            </a:lvl8pPr>
            <a:lvl9pPr>
              <a:defRPr sz="1350" b="0">
                <a:solidFill>
                  <a:srgbClr val="486178"/>
                </a:solidFill>
              </a:defRPr>
            </a:lvl9pPr>
          </a:lstStyle>
          <a:p xmlns:a="http://schemas.openxmlformats.org/drawingml/2006/main">
            <a:pPr>
              <a:defRPr sz="1350" b="0">
                <a:solidFill>
                  <a:srgbClr val="486178"/>
                </a:solidFill>
              </a:defRPr>
            </a:pPr>
            <a:r>
              <a:rPr sz="1350" b="0">
                <a:solidFill>
                  <a:srgbClr val="486178"/>
                </a:solidFill>
              </a:rPr>
              <a:t>09</a:t>
            </a:r>
          </a:p>
        </p:txBody>
      </p:sp>
      <p:pic>
        <p:nvPicPr>
          <p:cNvPr id="3" name="">
            <a:extLst xmlns:a="http://schemas.openxmlformats.org/drawingml/2006/main">
              <a:ext uri="{FF2B5EF4-FFF2-40B4-BE49-F238E27FC236}">
                <a16:creationId xmlns:a16="http://schemas.microsoft.com/office/drawing/2014/main" id="{A30FDB06-A49C-4653-A800-3FA35019A4E9}"/>
              </a:ext>
            </a:extLst>
          </p:cNvPr>
          <p:cNvPicPr>
            <a:picLocks xmlns:a="http://schemas.openxmlformats.org/drawingml/2006/main" noChangeAspect="1"/>
          </p:cNvPicPr>
          <p:nvPr/>
        </p:nvPicPr>
        <p:blipFill>
          <a:blip xmlns:r="http://schemas.openxmlformats.org/officeDocument/2006/relationships" xmlns:a="http://schemas.openxmlformats.org/drawingml/2006/main" r:embed="R4f998db79bd24c54"/>
          <a:stretch xmlns:a="http://schemas.openxmlformats.org/drawingml/2006/main"/>
        </p:blipFill>
        <p:spPr>
          <a:xfrm xmlns:a="http://schemas.openxmlformats.org/drawingml/2006/main">
            <a:off x="953621" y="1638300"/>
            <a:ext cx="4169708" cy="4476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85EAA55-AC7A-46CD-A461-A2282A1B06F1}"/>
              </a:ext>
            </a:extLst>
          </p:cNvPr>
          <p:cNvSpPr>
            <a:spLocks xmlns:a="http://schemas.openxmlformats.org/drawingml/2006/main" noGrp="1"/>
          </p:cNvSpPr>
          <p:nvPr/>
        </p:nvSpPr>
        <p:spPr>
          <a:xfrm xmlns:a="http://schemas.openxmlformats.org/drawingml/2006/main">
            <a:off x="6286500" y="200025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087F8C"/>
                </a:solidFill>
              </a:defRPr>
            </a:defPPr>
            <a:lvl1pPr>
              <a:defRPr sz="4800" b="1">
                <a:solidFill>
                  <a:srgbClr val="087F8C"/>
                </a:solidFill>
              </a:defRPr>
            </a:lvl1pPr>
            <a:lvl2pPr>
              <a:defRPr sz="4800" b="1">
                <a:solidFill>
                  <a:srgbClr val="087F8C"/>
                </a:solidFill>
              </a:defRPr>
            </a:lvl2pPr>
            <a:lvl3pPr>
              <a:defRPr sz="4800" b="1">
                <a:solidFill>
                  <a:srgbClr val="087F8C"/>
                </a:solidFill>
              </a:defRPr>
            </a:lvl3pPr>
            <a:lvl4pPr>
              <a:defRPr sz="4800" b="1">
                <a:solidFill>
                  <a:srgbClr val="087F8C"/>
                </a:solidFill>
              </a:defRPr>
            </a:lvl4pPr>
            <a:lvl5pPr>
              <a:defRPr sz="4800" b="1">
                <a:solidFill>
                  <a:srgbClr val="087F8C"/>
                </a:solidFill>
              </a:defRPr>
            </a:lvl5pPr>
            <a:lvl6pPr>
              <a:defRPr sz="4800" b="1">
                <a:solidFill>
                  <a:srgbClr val="087F8C"/>
                </a:solidFill>
              </a:defRPr>
            </a:lvl6pPr>
            <a:lvl7pPr>
              <a:defRPr sz="4800" b="1">
                <a:solidFill>
                  <a:srgbClr val="087F8C"/>
                </a:solidFill>
              </a:defRPr>
            </a:lvl7pPr>
            <a:lvl8pPr>
              <a:defRPr sz="4800" b="1">
                <a:solidFill>
                  <a:srgbClr val="087F8C"/>
                </a:solidFill>
              </a:defRPr>
            </a:lvl8pPr>
            <a:lvl9pPr>
              <a:defRPr sz="4800" b="1">
                <a:solidFill>
                  <a:srgbClr val="087F8C"/>
                </a:solidFill>
              </a:defRPr>
            </a:lvl9pPr>
          </a:lstStyle>
          <a:p xmlns:a="http://schemas.openxmlformats.org/drawingml/2006/main">
            <a:pPr>
              <a:defRPr sz="4800" b="1">
                <a:solidFill>
                  <a:srgbClr val="087F8C"/>
                </a:solidFill>
              </a:defRPr>
            </a:pPr>
            <a:r>
              <a:rPr sz="4800" b="1">
                <a:solidFill>
                  <a:srgbClr val="087F8C"/>
                </a:solidFill>
              </a:rPr>
              <a:t>10 moves</a:t>
            </a:r>
          </a:p>
        </p:txBody>
      </p:sp>
      <p:sp>
        <p:nvSpPr>
          <p:cNvPr id="5" name="">
            <a:extLst xmlns:a="http://schemas.openxmlformats.org/drawingml/2006/main">
              <a:ext uri="{FF2B5EF4-FFF2-40B4-BE49-F238E27FC236}">
                <a16:creationId xmlns:a16="http://schemas.microsoft.com/office/drawing/2014/main" id="{03A7A2DB-5B61-431B-8BA7-B3E851EA0DE3}"/>
              </a:ext>
            </a:extLst>
          </p:cNvPr>
          <p:cNvSpPr>
            <a:spLocks xmlns:a="http://schemas.openxmlformats.org/drawingml/2006/main" noGrp="1"/>
          </p:cNvSpPr>
          <p:nvPr/>
        </p:nvSpPr>
        <p:spPr>
          <a:xfrm xmlns:a="http://schemas.openxmlformats.org/drawingml/2006/main">
            <a:off x="6286500" y="3200400"/>
            <a:ext cx="5048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0263B"/>
                </a:solidFill>
              </a:defRPr>
            </a:defPPr>
            <a:lvl1pPr>
              <a:defRPr sz="2250" b="0">
                <a:solidFill>
                  <a:srgbClr val="10263B"/>
                </a:solidFill>
              </a:defRPr>
            </a:lvl1pPr>
            <a:lvl2pPr>
              <a:defRPr sz="2250" b="0">
                <a:solidFill>
                  <a:srgbClr val="10263B"/>
                </a:solidFill>
              </a:defRPr>
            </a:lvl2pPr>
            <a:lvl3pPr>
              <a:defRPr sz="2250" b="0">
                <a:solidFill>
                  <a:srgbClr val="10263B"/>
                </a:solidFill>
              </a:defRPr>
            </a:lvl3pPr>
            <a:lvl4pPr>
              <a:defRPr sz="2250" b="0">
                <a:solidFill>
                  <a:srgbClr val="10263B"/>
                </a:solidFill>
              </a:defRPr>
            </a:lvl4pPr>
            <a:lvl5pPr>
              <a:defRPr sz="2250" b="0">
                <a:solidFill>
                  <a:srgbClr val="10263B"/>
                </a:solidFill>
              </a:defRPr>
            </a:lvl5pPr>
            <a:lvl6pPr>
              <a:defRPr sz="2250" b="0">
                <a:solidFill>
                  <a:srgbClr val="10263B"/>
                </a:solidFill>
              </a:defRPr>
            </a:lvl6pPr>
            <a:lvl7pPr>
              <a:defRPr sz="2250" b="0">
                <a:solidFill>
                  <a:srgbClr val="10263B"/>
                </a:solidFill>
              </a:defRPr>
            </a:lvl7pPr>
            <a:lvl8pPr>
              <a:defRPr sz="2250" b="0">
                <a:solidFill>
                  <a:srgbClr val="10263B"/>
                </a:solidFill>
              </a:defRPr>
            </a:lvl8pPr>
            <a:lvl9pPr>
              <a:defRPr sz="2250" b="0">
                <a:solidFill>
                  <a:srgbClr val="10263B"/>
                </a:solidFill>
              </a:defRPr>
            </a:lvl9pPr>
          </a:lstStyle>
          <a:p xmlns:a="http://schemas.openxmlformats.org/drawingml/2006/main">
            <a:pPr>
              <a:defRPr sz="2250" b="0">
                <a:solidFill>
                  <a:srgbClr val="10263B"/>
                </a:solidFill>
              </a:defRPr>
            </a:pPr>
            <a:r>
              <a:rPr sz="2250" b="0">
                <a:solidFill>
                  <a:srgbClr val="10263B"/>
                </a:solidFill>
              </a:rPr>
              <a:t>Shortest-path baseline: 10</a:t>
            </a:r>
          </a:p>
          <a:p xmlns:a="http://schemas.openxmlformats.org/drawingml/2006/main">
            <a:pPr>
              <a:defRPr sz="2250" b="0">
                <a:solidFill>
                  <a:srgbClr val="10263B"/>
                </a:solidFill>
              </a:defRPr>
            </a:pPr>
            <a:r>
              <a:rPr sz="2250" b="0">
                <a:solidFill>
                  <a:srgbClr val="10263B"/>
                </a:solidFill>
              </a:rPr>
              <a:t>Greedy return: +91</a:t>
            </a:r>
          </a:p>
          <a:p xmlns:a="http://schemas.openxmlformats.org/drawingml/2006/main">
            <a:pPr>
              <a:defRPr sz="2250" b="0">
                <a:solidFill>
                  <a:srgbClr val="10263B"/>
                </a:solidFill>
              </a:defRPr>
            </a:pPr>
            <a:r>
              <a:rPr sz="2250" b="0">
                <a:solidFill>
                  <a:srgbClr val="10263B"/>
                </a:solidFill>
              </a:rPr>
              <a:t>Goal reached: yes</a:t>
            </a:r>
          </a:p>
        </p:txBody>
      </p:sp>
      <p:sp>
        <p:nvSpPr>
          <p:cNvPr id="6" name="">
            <a:extLst xmlns:a="http://schemas.openxmlformats.org/drawingml/2006/main">
              <a:ext uri="{FF2B5EF4-FFF2-40B4-BE49-F238E27FC236}">
                <a16:creationId xmlns:a16="http://schemas.microsoft.com/office/drawing/2014/main" id="{51DD75C4-40EB-44C5-8E04-247788C97EA9}"/>
              </a:ext>
            </a:extLst>
          </p:cNvPr>
          <p:cNvSpPr>
            <a:spLocks xmlns:a="http://schemas.openxmlformats.org/drawingml/2006/main" noGrp="1"/>
          </p:cNvSpPr>
          <p:nvPr/>
        </p:nvSpPr>
        <p:spPr>
          <a:xfrm xmlns:a="http://schemas.openxmlformats.org/drawingml/2006/main">
            <a:off x="6286500" y="5286375"/>
            <a:ext cx="5048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86178"/>
                </a:solidFill>
              </a:defRPr>
            </a:defPPr>
            <a:lvl1pPr>
              <a:defRPr sz="1800" b="0">
                <a:solidFill>
                  <a:srgbClr val="486178"/>
                </a:solidFill>
              </a:defRPr>
            </a:lvl1pPr>
            <a:lvl2pPr>
              <a:defRPr sz="1800" b="0">
                <a:solidFill>
                  <a:srgbClr val="486178"/>
                </a:solidFill>
              </a:defRPr>
            </a:lvl2pPr>
            <a:lvl3pPr>
              <a:defRPr sz="1800" b="0">
                <a:solidFill>
                  <a:srgbClr val="486178"/>
                </a:solidFill>
              </a:defRPr>
            </a:lvl3pPr>
            <a:lvl4pPr>
              <a:defRPr sz="1800" b="0">
                <a:solidFill>
                  <a:srgbClr val="486178"/>
                </a:solidFill>
              </a:defRPr>
            </a:lvl4pPr>
            <a:lvl5pPr>
              <a:defRPr sz="1800" b="0">
                <a:solidFill>
                  <a:srgbClr val="486178"/>
                </a:solidFill>
              </a:defRPr>
            </a:lvl5pPr>
            <a:lvl6pPr>
              <a:defRPr sz="1800" b="0">
                <a:solidFill>
                  <a:srgbClr val="486178"/>
                </a:solidFill>
              </a:defRPr>
            </a:lvl6pPr>
            <a:lvl7pPr>
              <a:defRPr sz="1800" b="0">
                <a:solidFill>
                  <a:srgbClr val="486178"/>
                </a:solidFill>
              </a:defRPr>
            </a:lvl7pPr>
            <a:lvl8pPr>
              <a:defRPr sz="1800" b="0">
                <a:solidFill>
                  <a:srgbClr val="486178"/>
                </a:solidFill>
              </a:defRPr>
            </a:lvl8pPr>
            <a:lvl9pPr>
              <a:defRPr sz="1800" b="0">
                <a:solidFill>
                  <a:srgbClr val="486178"/>
                </a:solidFill>
              </a:defRPr>
            </a:lvl9pPr>
          </a:lstStyle>
          <a:p xmlns:a="http://schemas.openxmlformats.org/drawingml/2006/main">
            <a:pPr>
              <a:defRPr sz="1800" b="0">
                <a:solidFill>
                  <a:srgbClr val="486178"/>
                </a:solidFill>
              </a:defRPr>
            </a:pPr>
            <a:r>
              <a:rPr sz="1800" b="0">
                <a:solidFill>
                  <a:srgbClr val="486178"/>
                </a:solidFill>
              </a:rPr>
              <a:t>S = start    G = goal</a:t>
            </a:r>
          </a:p>
          <a:p xmlns:a="http://schemas.openxmlformats.org/drawingml/2006/main">
            <a:pPr>
              <a:defRPr sz="1800" b="0">
                <a:solidFill>
                  <a:srgbClr val="486178"/>
                </a:solidFill>
              </a:defRPr>
            </a:pPr>
            <a:r>
              <a:rPr sz="1800" b="0">
                <a:solidFill>
                  <a:srgbClr val="486178"/>
                </a:solidFill>
              </a:rPr>
              <a:t>Blue line = learned route</a:t>
            </a:r>
          </a:p>
        </p:txBody>
      </p:sp>
    </p:spTree>
    <p:extLst>
      <p:ext uri="{BB962C8B-B14F-4D97-AF65-F5344CB8AC3E}">
        <p14:creationId xmlns:p14="http://schemas.microsoft.com/office/powerpoint/2010/main" val="202652912"/>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AE14529-324E-40D6-AFF7-B0F079A0021E}"/>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63B"/>
                </a:solidFill>
              </a:defRPr>
            </a:defPPr>
            <a:lvl1pPr>
              <a:defRPr sz="3300" b="1">
                <a:solidFill>
                  <a:srgbClr val="10263B"/>
                </a:solidFill>
              </a:defRPr>
            </a:lvl1pPr>
            <a:lvl2pPr>
              <a:defRPr sz="3300" b="1">
                <a:solidFill>
                  <a:srgbClr val="10263B"/>
                </a:solidFill>
              </a:defRPr>
            </a:lvl2pPr>
            <a:lvl3pPr>
              <a:defRPr sz="3300" b="1">
                <a:solidFill>
                  <a:srgbClr val="10263B"/>
                </a:solidFill>
              </a:defRPr>
            </a:lvl3pPr>
            <a:lvl4pPr>
              <a:defRPr sz="3300" b="1">
                <a:solidFill>
                  <a:srgbClr val="10263B"/>
                </a:solidFill>
              </a:defRPr>
            </a:lvl4pPr>
            <a:lvl5pPr>
              <a:defRPr sz="3300" b="1">
                <a:solidFill>
                  <a:srgbClr val="10263B"/>
                </a:solidFill>
              </a:defRPr>
            </a:lvl5pPr>
            <a:lvl6pPr>
              <a:defRPr sz="3300" b="1">
                <a:solidFill>
                  <a:srgbClr val="10263B"/>
                </a:solidFill>
              </a:defRPr>
            </a:lvl6pPr>
            <a:lvl7pPr>
              <a:defRPr sz="3300" b="1">
                <a:solidFill>
                  <a:srgbClr val="10263B"/>
                </a:solidFill>
              </a:defRPr>
            </a:lvl7pPr>
            <a:lvl8pPr>
              <a:defRPr sz="3300" b="1">
                <a:solidFill>
                  <a:srgbClr val="10263B"/>
                </a:solidFill>
              </a:defRPr>
            </a:lvl8pPr>
            <a:lvl9pPr>
              <a:defRPr sz="3300" b="1">
                <a:solidFill>
                  <a:srgbClr val="10263B"/>
                </a:solidFill>
              </a:defRPr>
            </a:lvl9pPr>
          </a:lstStyle>
          <a:p xmlns:a="http://schemas.openxmlformats.org/drawingml/2006/main">
            <a:pPr>
              <a:defRPr sz="3300" b="1">
                <a:solidFill>
                  <a:srgbClr val="10263B"/>
                </a:solidFill>
              </a:defRPr>
            </a:pPr>
            <a:r>
              <a:rPr sz="3300" b="1">
                <a:solidFill>
                  <a:srgbClr val="10263B"/>
                </a:solidFill>
              </a:rPr>
              <a:t>Validation and test evidence</a:t>
            </a:r>
          </a:p>
        </p:txBody>
      </p:sp>
      <p:sp>
        <p:nvSpPr>
          <p:cNvPr id="2" name="">
            <a:extLst xmlns:a="http://schemas.openxmlformats.org/drawingml/2006/main">
              <a:ext uri="{FF2B5EF4-FFF2-40B4-BE49-F238E27FC236}">
                <a16:creationId xmlns:a16="http://schemas.microsoft.com/office/drawing/2014/main" id="{8989A600-1CC3-448A-8364-6E9942A70479}"/>
              </a:ext>
            </a:extLst>
          </p:cNvPr>
          <p:cNvSpPr>
            <a:spLocks xmlns:a="http://schemas.openxmlformats.org/drawingml/2006/main" noGrp="1"/>
          </p:cNvSpPr>
          <p:nvPr/>
        </p:nvSpPr>
        <p:spPr>
          <a:xfrm xmlns:a="http://schemas.openxmlformats.org/drawingml/2006/main">
            <a:off x="1123950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86178"/>
                </a:solidFill>
              </a:defRPr>
            </a:defPPr>
            <a:lvl1pPr>
              <a:defRPr sz="1350" b="0">
                <a:solidFill>
                  <a:srgbClr val="486178"/>
                </a:solidFill>
              </a:defRPr>
            </a:lvl1pPr>
            <a:lvl2pPr>
              <a:defRPr sz="1350" b="0">
                <a:solidFill>
                  <a:srgbClr val="486178"/>
                </a:solidFill>
              </a:defRPr>
            </a:lvl2pPr>
            <a:lvl3pPr>
              <a:defRPr sz="1350" b="0">
                <a:solidFill>
                  <a:srgbClr val="486178"/>
                </a:solidFill>
              </a:defRPr>
            </a:lvl3pPr>
            <a:lvl4pPr>
              <a:defRPr sz="1350" b="0">
                <a:solidFill>
                  <a:srgbClr val="486178"/>
                </a:solidFill>
              </a:defRPr>
            </a:lvl4pPr>
            <a:lvl5pPr>
              <a:defRPr sz="1350" b="0">
                <a:solidFill>
                  <a:srgbClr val="486178"/>
                </a:solidFill>
              </a:defRPr>
            </a:lvl5pPr>
            <a:lvl6pPr>
              <a:defRPr sz="1350" b="0">
                <a:solidFill>
                  <a:srgbClr val="486178"/>
                </a:solidFill>
              </a:defRPr>
            </a:lvl6pPr>
            <a:lvl7pPr>
              <a:defRPr sz="1350" b="0">
                <a:solidFill>
                  <a:srgbClr val="486178"/>
                </a:solidFill>
              </a:defRPr>
            </a:lvl7pPr>
            <a:lvl8pPr>
              <a:defRPr sz="1350" b="0">
                <a:solidFill>
                  <a:srgbClr val="486178"/>
                </a:solidFill>
              </a:defRPr>
            </a:lvl8pPr>
            <a:lvl9pPr>
              <a:defRPr sz="1350" b="0">
                <a:solidFill>
                  <a:srgbClr val="486178"/>
                </a:solidFill>
              </a:defRPr>
            </a:lvl9pPr>
          </a:lstStyle>
          <a:p xmlns:a="http://schemas.openxmlformats.org/drawingml/2006/main">
            <a:pPr>
              <a:defRPr sz="1350" b="0">
                <a:solidFill>
                  <a:srgbClr val="486178"/>
                </a:solidFill>
              </a:defRPr>
            </a:pPr>
            <a:r>
              <a:rPr sz="1350" b="0">
                <a:solidFill>
                  <a:srgbClr val="486178"/>
                </a:solidFill>
              </a:rPr>
              <a:t>10</a:t>
            </a:r>
          </a:p>
        </p:txBody>
      </p:sp>
      <p:sp>
        <p:nvSpPr>
          <p:cNvPr id="3" name="">
            <a:extLst xmlns:a="http://schemas.openxmlformats.org/drawingml/2006/main">
              <a:ext uri="{FF2B5EF4-FFF2-40B4-BE49-F238E27FC236}">
                <a16:creationId xmlns:a16="http://schemas.microsoft.com/office/drawing/2014/main" id="{65ED383F-2266-4490-A4D7-346667AA19F6}"/>
              </a:ext>
            </a:extLst>
          </p:cNvPr>
          <p:cNvSpPr>
            <a:spLocks xmlns:a="http://schemas.openxmlformats.org/drawingml/2006/main" noGrp="1"/>
          </p:cNvSpPr>
          <p:nvPr/>
        </p:nvSpPr>
        <p:spPr>
          <a:xfrm xmlns:a="http://schemas.openxmlformats.org/drawingml/2006/main">
            <a:off x="609600" y="1714500"/>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0263B"/>
                </a:solidFill>
              </a:defRPr>
            </a:defPPr>
            <a:lvl1pPr>
              <a:defRPr sz="2250" b="0">
                <a:solidFill>
                  <a:srgbClr val="10263B"/>
                </a:solidFill>
              </a:defRPr>
            </a:lvl1pPr>
            <a:lvl2pPr>
              <a:defRPr sz="2250" b="0">
                <a:solidFill>
                  <a:srgbClr val="10263B"/>
                </a:solidFill>
              </a:defRPr>
            </a:lvl2pPr>
            <a:lvl3pPr>
              <a:defRPr sz="2250" b="0">
                <a:solidFill>
                  <a:srgbClr val="10263B"/>
                </a:solidFill>
              </a:defRPr>
            </a:lvl3pPr>
            <a:lvl4pPr>
              <a:defRPr sz="2250" b="0">
                <a:solidFill>
                  <a:srgbClr val="10263B"/>
                </a:solidFill>
              </a:defRPr>
            </a:lvl4pPr>
            <a:lvl5pPr>
              <a:defRPr sz="2250" b="0">
                <a:solidFill>
                  <a:srgbClr val="10263B"/>
                </a:solidFill>
              </a:defRPr>
            </a:lvl5pPr>
            <a:lvl6pPr>
              <a:defRPr sz="2250" b="0">
                <a:solidFill>
                  <a:srgbClr val="10263B"/>
                </a:solidFill>
              </a:defRPr>
            </a:lvl6pPr>
            <a:lvl7pPr>
              <a:defRPr sz="2250" b="0">
                <a:solidFill>
                  <a:srgbClr val="10263B"/>
                </a:solidFill>
              </a:defRPr>
            </a:lvl7pPr>
            <a:lvl8pPr>
              <a:defRPr sz="2250" b="0">
                <a:solidFill>
                  <a:srgbClr val="10263B"/>
                </a:solidFill>
              </a:defRPr>
            </a:lvl8pPr>
            <a:lvl9pPr>
              <a:defRPr sz="2250" b="0">
                <a:solidFill>
                  <a:srgbClr val="10263B"/>
                </a:solidFill>
              </a:defRPr>
            </a:lvl9pPr>
          </a:lstStyle>
          <a:p xmlns:a="http://schemas.openxmlformats.org/drawingml/2006/main">
            <a:pPr>
              <a:defRPr sz="2250" b="0">
                <a:solidFill>
                  <a:srgbClr val="10263B"/>
                </a:solidFill>
              </a:defRPr>
            </a:pPr>
            <a:r>
              <a:rPr sz="2250" b="0">
                <a:solidFill>
                  <a:srgbClr val="10263B"/>
                </a:solidFill>
              </a:rPr>
              <a:t>6 automated tests pass</a:t>
            </a:r>
          </a:p>
        </p:txBody>
      </p:sp>
      <p:sp>
        <p:nvSpPr>
          <p:cNvPr id="4" name="">
            <a:extLst xmlns:a="http://schemas.openxmlformats.org/drawingml/2006/main">
              <a:ext uri="{FF2B5EF4-FFF2-40B4-BE49-F238E27FC236}">
                <a16:creationId xmlns:a16="http://schemas.microsoft.com/office/drawing/2014/main" id="{D8FC6532-3642-48E5-8527-DA589C2B419B}"/>
              </a:ext>
            </a:extLst>
          </p:cNvPr>
          <p:cNvSpPr>
            <a:spLocks xmlns:a="http://schemas.openxmlformats.org/drawingml/2006/main" noGrp="1"/>
          </p:cNvSpPr>
          <p:nvPr/>
        </p:nvSpPr>
        <p:spPr>
          <a:xfrm xmlns:a="http://schemas.openxmlformats.org/drawingml/2006/main">
            <a:off x="609600" y="2628900"/>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0263B"/>
                </a:solidFill>
              </a:defRPr>
            </a:defPPr>
            <a:lvl1pPr>
              <a:defRPr sz="2250" b="0">
                <a:solidFill>
                  <a:srgbClr val="10263B"/>
                </a:solidFill>
              </a:defRPr>
            </a:lvl1pPr>
            <a:lvl2pPr>
              <a:defRPr sz="2250" b="0">
                <a:solidFill>
                  <a:srgbClr val="10263B"/>
                </a:solidFill>
              </a:defRPr>
            </a:lvl2pPr>
            <a:lvl3pPr>
              <a:defRPr sz="2250" b="0">
                <a:solidFill>
                  <a:srgbClr val="10263B"/>
                </a:solidFill>
              </a:defRPr>
            </a:lvl3pPr>
            <a:lvl4pPr>
              <a:defRPr sz="2250" b="0">
                <a:solidFill>
                  <a:srgbClr val="10263B"/>
                </a:solidFill>
              </a:defRPr>
            </a:lvl4pPr>
            <a:lvl5pPr>
              <a:defRPr sz="2250" b="0">
                <a:solidFill>
                  <a:srgbClr val="10263B"/>
                </a:solidFill>
              </a:defRPr>
            </a:lvl5pPr>
            <a:lvl6pPr>
              <a:defRPr sz="2250" b="0">
                <a:solidFill>
                  <a:srgbClr val="10263B"/>
                </a:solidFill>
              </a:defRPr>
            </a:lvl6pPr>
            <a:lvl7pPr>
              <a:defRPr sz="2250" b="0">
                <a:solidFill>
                  <a:srgbClr val="10263B"/>
                </a:solidFill>
              </a:defRPr>
            </a:lvl7pPr>
            <a:lvl8pPr>
              <a:defRPr sz="2250" b="0">
                <a:solidFill>
                  <a:srgbClr val="10263B"/>
                </a:solidFill>
              </a:defRPr>
            </a:lvl8pPr>
            <a:lvl9pPr>
              <a:defRPr sz="2250" b="0">
                <a:solidFill>
                  <a:srgbClr val="10263B"/>
                </a:solidFill>
              </a:defRPr>
            </a:lvl9pPr>
          </a:lstStyle>
          <a:p xmlns:a="http://schemas.openxmlformats.org/drawingml/2006/main">
            <a:pPr>
              <a:defRPr sz="2250" b="0">
                <a:solidFill>
                  <a:srgbClr val="10263B"/>
                </a:solidFill>
              </a:defRPr>
            </a:pPr>
            <a:r>
              <a:rPr sz="2250" b="0">
                <a:solidFill>
                  <a:srgbClr val="10263B"/>
                </a:solidFill>
              </a:rPr>
              <a:t>Seeds 0, 7, and 42 each learn a 10-move route</a:t>
            </a:r>
          </a:p>
        </p:txBody>
      </p:sp>
      <p:sp>
        <p:nvSpPr>
          <p:cNvPr id="5" name="">
            <a:extLst xmlns:a="http://schemas.openxmlformats.org/drawingml/2006/main">
              <a:ext uri="{FF2B5EF4-FFF2-40B4-BE49-F238E27FC236}">
                <a16:creationId xmlns:a16="http://schemas.microsoft.com/office/drawing/2014/main" id="{283D6530-5D6A-4146-B053-E294CEB35F06}"/>
              </a:ext>
            </a:extLst>
          </p:cNvPr>
          <p:cNvSpPr>
            <a:spLocks xmlns:a="http://schemas.openxmlformats.org/drawingml/2006/main" noGrp="1"/>
          </p:cNvSpPr>
          <p:nvPr/>
        </p:nvSpPr>
        <p:spPr>
          <a:xfrm xmlns:a="http://schemas.openxmlformats.org/drawingml/2006/main">
            <a:off x="609600" y="3543300"/>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0263B"/>
                </a:solidFill>
              </a:defRPr>
            </a:defPPr>
            <a:lvl1pPr>
              <a:defRPr sz="2250" b="0">
                <a:solidFill>
                  <a:srgbClr val="10263B"/>
                </a:solidFill>
              </a:defRPr>
            </a:lvl1pPr>
            <a:lvl2pPr>
              <a:defRPr sz="2250" b="0">
                <a:solidFill>
                  <a:srgbClr val="10263B"/>
                </a:solidFill>
              </a:defRPr>
            </a:lvl2pPr>
            <a:lvl3pPr>
              <a:defRPr sz="2250" b="0">
                <a:solidFill>
                  <a:srgbClr val="10263B"/>
                </a:solidFill>
              </a:defRPr>
            </a:lvl3pPr>
            <a:lvl4pPr>
              <a:defRPr sz="2250" b="0">
                <a:solidFill>
                  <a:srgbClr val="10263B"/>
                </a:solidFill>
              </a:defRPr>
            </a:lvl4pPr>
            <a:lvl5pPr>
              <a:defRPr sz="2250" b="0">
                <a:solidFill>
                  <a:srgbClr val="10263B"/>
                </a:solidFill>
              </a:defRPr>
            </a:lvl5pPr>
            <a:lvl6pPr>
              <a:defRPr sz="2250" b="0">
                <a:solidFill>
                  <a:srgbClr val="10263B"/>
                </a:solidFill>
              </a:defRPr>
            </a:lvl6pPr>
            <a:lvl7pPr>
              <a:defRPr sz="2250" b="0">
                <a:solidFill>
                  <a:srgbClr val="10263B"/>
                </a:solidFill>
              </a:defRPr>
            </a:lvl7pPr>
            <a:lvl8pPr>
              <a:defRPr sz="2250" b="0">
                <a:solidFill>
                  <a:srgbClr val="10263B"/>
                </a:solidFill>
              </a:defRPr>
            </a:lvl8pPr>
            <a:lvl9pPr>
              <a:defRPr sz="2250" b="0">
                <a:solidFill>
                  <a:srgbClr val="10263B"/>
                </a:solidFill>
              </a:defRPr>
            </a:lvl9pPr>
          </a:lstStyle>
          <a:p xmlns:a="http://schemas.openxmlformats.org/drawingml/2006/main">
            <a:pPr>
              <a:defRPr sz="2250" b="0">
                <a:solidFill>
                  <a:srgbClr val="10263B"/>
                </a:solidFill>
              </a:defRPr>
            </a:pPr>
            <a:r>
              <a:rPr sz="2250" b="0">
                <a:solidFill>
                  <a:srgbClr val="10263B"/>
                </a:solidFill>
              </a:rPr>
              <a:t>Tests verify collisions and terminal Q updates</a:t>
            </a:r>
          </a:p>
        </p:txBody>
      </p:sp>
      <p:sp>
        <p:nvSpPr>
          <p:cNvPr id="6" name="">
            <a:extLst xmlns:a="http://schemas.openxmlformats.org/drawingml/2006/main">
              <a:ext uri="{FF2B5EF4-FFF2-40B4-BE49-F238E27FC236}">
                <a16:creationId xmlns:a16="http://schemas.microsoft.com/office/drawing/2014/main" id="{666A115D-0DFB-469A-9A4F-0439A67ACFCC}"/>
              </a:ext>
            </a:extLst>
          </p:cNvPr>
          <p:cNvSpPr>
            <a:spLocks xmlns:a="http://schemas.openxmlformats.org/drawingml/2006/main" noGrp="1"/>
          </p:cNvSpPr>
          <p:nvPr/>
        </p:nvSpPr>
        <p:spPr>
          <a:xfrm xmlns:a="http://schemas.openxmlformats.org/drawingml/2006/main">
            <a:off x="609600" y="4457700"/>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0263B"/>
                </a:solidFill>
              </a:defRPr>
            </a:defPPr>
            <a:lvl1pPr>
              <a:defRPr sz="2250" b="0">
                <a:solidFill>
                  <a:srgbClr val="10263B"/>
                </a:solidFill>
              </a:defRPr>
            </a:lvl1pPr>
            <a:lvl2pPr>
              <a:defRPr sz="2250" b="0">
                <a:solidFill>
                  <a:srgbClr val="10263B"/>
                </a:solidFill>
              </a:defRPr>
            </a:lvl2pPr>
            <a:lvl3pPr>
              <a:defRPr sz="2250" b="0">
                <a:solidFill>
                  <a:srgbClr val="10263B"/>
                </a:solidFill>
              </a:defRPr>
            </a:lvl3pPr>
            <a:lvl4pPr>
              <a:defRPr sz="2250" b="0">
                <a:solidFill>
                  <a:srgbClr val="10263B"/>
                </a:solidFill>
              </a:defRPr>
            </a:lvl4pPr>
            <a:lvl5pPr>
              <a:defRPr sz="2250" b="0">
                <a:solidFill>
                  <a:srgbClr val="10263B"/>
                </a:solidFill>
              </a:defRPr>
            </a:lvl5pPr>
            <a:lvl6pPr>
              <a:defRPr sz="2250" b="0">
                <a:solidFill>
                  <a:srgbClr val="10263B"/>
                </a:solidFill>
              </a:defRPr>
            </a:lvl6pPr>
            <a:lvl7pPr>
              <a:defRPr sz="2250" b="0">
                <a:solidFill>
                  <a:srgbClr val="10263B"/>
                </a:solidFill>
              </a:defRPr>
            </a:lvl7pPr>
            <a:lvl8pPr>
              <a:defRPr sz="2250" b="0">
                <a:solidFill>
                  <a:srgbClr val="10263B"/>
                </a:solidFill>
              </a:defRPr>
            </a:lvl8pPr>
            <a:lvl9pPr>
              <a:defRPr sz="2250" b="0">
                <a:solidFill>
                  <a:srgbClr val="10263B"/>
                </a:solidFill>
              </a:defRPr>
            </a:lvl9pPr>
          </a:lstStyle>
          <a:p xmlns:a="http://schemas.openxmlformats.org/drawingml/2006/main">
            <a:pPr>
              <a:defRPr sz="2250" b="0">
                <a:solidFill>
                  <a:srgbClr val="10263B"/>
                </a:solidFill>
              </a:defRPr>
            </a:pPr>
            <a:r>
              <a:rPr sz="2250" b="0">
                <a:solidFill>
                  <a:srgbClr val="10263B"/>
                </a:solidFill>
              </a:rPr>
              <a:t>The final 100 training episodes all reach the goal</a:t>
            </a:r>
          </a:p>
        </p:txBody>
      </p:sp>
    </p:spTree>
    <p:extLst>
      <p:ext uri="{BB962C8B-B14F-4D97-AF65-F5344CB8AC3E}">
        <p14:creationId xmlns:p14="http://schemas.microsoft.com/office/powerpoint/2010/main" val="34014129"/>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CA56003-C789-45B9-8224-03D582ECAB76}"/>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63B"/>
                </a:solidFill>
              </a:defRPr>
            </a:defPPr>
            <a:lvl1pPr>
              <a:defRPr sz="3300" b="1">
                <a:solidFill>
                  <a:srgbClr val="10263B"/>
                </a:solidFill>
              </a:defRPr>
            </a:lvl1pPr>
            <a:lvl2pPr>
              <a:defRPr sz="3300" b="1">
                <a:solidFill>
                  <a:srgbClr val="10263B"/>
                </a:solidFill>
              </a:defRPr>
            </a:lvl2pPr>
            <a:lvl3pPr>
              <a:defRPr sz="3300" b="1">
                <a:solidFill>
                  <a:srgbClr val="10263B"/>
                </a:solidFill>
              </a:defRPr>
            </a:lvl3pPr>
            <a:lvl4pPr>
              <a:defRPr sz="3300" b="1">
                <a:solidFill>
                  <a:srgbClr val="10263B"/>
                </a:solidFill>
              </a:defRPr>
            </a:lvl4pPr>
            <a:lvl5pPr>
              <a:defRPr sz="3300" b="1">
                <a:solidFill>
                  <a:srgbClr val="10263B"/>
                </a:solidFill>
              </a:defRPr>
            </a:lvl5pPr>
            <a:lvl6pPr>
              <a:defRPr sz="3300" b="1">
                <a:solidFill>
                  <a:srgbClr val="10263B"/>
                </a:solidFill>
              </a:defRPr>
            </a:lvl6pPr>
            <a:lvl7pPr>
              <a:defRPr sz="3300" b="1">
                <a:solidFill>
                  <a:srgbClr val="10263B"/>
                </a:solidFill>
              </a:defRPr>
            </a:lvl7pPr>
            <a:lvl8pPr>
              <a:defRPr sz="3300" b="1">
                <a:solidFill>
                  <a:srgbClr val="10263B"/>
                </a:solidFill>
              </a:defRPr>
            </a:lvl8pPr>
            <a:lvl9pPr>
              <a:defRPr sz="3300" b="1">
                <a:solidFill>
                  <a:srgbClr val="10263B"/>
                </a:solidFill>
              </a:defRPr>
            </a:lvl9pPr>
          </a:lstStyle>
          <a:p xmlns:a="http://schemas.openxmlformats.org/drawingml/2006/main">
            <a:pPr>
              <a:defRPr sz="3300" b="1">
                <a:solidFill>
                  <a:srgbClr val="10263B"/>
                </a:solidFill>
              </a:defRPr>
            </a:pPr>
            <a:r>
              <a:rPr sz="3300" b="1">
                <a:solidFill>
                  <a:srgbClr val="10263B"/>
                </a:solidFill>
              </a:rPr>
              <a:t>GitHub publication workflow</a:t>
            </a:r>
          </a:p>
        </p:txBody>
      </p:sp>
      <p:sp>
        <p:nvSpPr>
          <p:cNvPr id="2" name="">
            <a:extLst xmlns:a="http://schemas.openxmlformats.org/drawingml/2006/main">
              <a:ext uri="{FF2B5EF4-FFF2-40B4-BE49-F238E27FC236}">
                <a16:creationId xmlns:a16="http://schemas.microsoft.com/office/drawing/2014/main" id="{AE2184BF-A701-4ECE-9941-9A7501544CAE}"/>
              </a:ext>
            </a:extLst>
          </p:cNvPr>
          <p:cNvSpPr>
            <a:spLocks xmlns:a="http://schemas.openxmlformats.org/drawingml/2006/main" noGrp="1"/>
          </p:cNvSpPr>
          <p:nvPr/>
        </p:nvSpPr>
        <p:spPr>
          <a:xfrm xmlns:a="http://schemas.openxmlformats.org/drawingml/2006/main">
            <a:off x="1123950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86178"/>
                </a:solidFill>
              </a:defRPr>
            </a:defPPr>
            <a:lvl1pPr>
              <a:defRPr sz="1350" b="0">
                <a:solidFill>
                  <a:srgbClr val="486178"/>
                </a:solidFill>
              </a:defRPr>
            </a:lvl1pPr>
            <a:lvl2pPr>
              <a:defRPr sz="1350" b="0">
                <a:solidFill>
                  <a:srgbClr val="486178"/>
                </a:solidFill>
              </a:defRPr>
            </a:lvl2pPr>
            <a:lvl3pPr>
              <a:defRPr sz="1350" b="0">
                <a:solidFill>
                  <a:srgbClr val="486178"/>
                </a:solidFill>
              </a:defRPr>
            </a:lvl3pPr>
            <a:lvl4pPr>
              <a:defRPr sz="1350" b="0">
                <a:solidFill>
                  <a:srgbClr val="486178"/>
                </a:solidFill>
              </a:defRPr>
            </a:lvl4pPr>
            <a:lvl5pPr>
              <a:defRPr sz="1350" b="0">
                <a:solidFill>
                  <a:srgbClr val="486178"/>
                </a:solidFill>
              </a:defRPr>
            </a:lvl5pPr>
            <a:lvl6pPr>
              <a:defRPr sz="1350" b="0">
                <a:solidFill>
                  <a:srgbClr val="486178"/>
                </a:solidFill>
              </a:defRPr>
            </a:lvl6pPr>
            <a:lvl7pPr>
              <a:defRPr sz="1350" b="0">
                <a:solidFill>
                  <a:srgbClr val="486178"/>
                </a:solidFill>
              </a:defRPr>
            </a:lvl7pPr>
            <a:lvl8pPr>
              <a:defRPr sz="1350" b="0">
                <a:solidFill>
                  <a:srgbClr val="486178"/>
                </a:solidFill>
              </a:defRPr>
            </a:lvl8pPr>
            <a:lvl9pPr>
              <a:defRPr sz="1350" b="0">
                <a:solidFill>
                  <a:srgbClr val="486178"/>
                </a:solidFill>
              </a:defRPr>
            </a:lvl9pPr>
          </a:lstStyle>
          <a:p xmlns:a="http://schemas.openxmlformats.org/drawingml/2006/main">
            <a:pPr>
              <a:defRPr sz="1350" b="0">
                <a:solidFill>
                  <a:srgbClr val="486178"/>
                </a:solidFill>
              </a:defRPr>
            </a:pPr>
            <a:r>
              <a:rPr sz="1350" b="0">
                <a:solidFill>
                  <a:srgbClr val="486178"/>
                </a:solidFill>
              </a:rPr>
              <a:t>11</a:t>
            </a:r>
          </a:p>
        </p:txBody>
      </p:sp>
      <p:sp>
        <p:nvSpPr>
          <p:cNvPr id="3" name="">
            <a:extLst xmlns:a="http://schemas.openxmlformats.org/drawingml/2006/main">
              <a:ext uri="{FF2B5EF4-FFF2-40B4-BE49-F238E27FC236}">
                <a16:creationId xmlns:a16="http://schemas.microsoft.com/office/drawing/2014/main" id="{45C88887-10F4-4E5A-A8F4-3C63F3DC6F59}"/>
              </a:ext>
            </a:extLst>
          </p:cNvPr>
          <p:cNvSpPr>
            <a:spLocks xmlns:a="http://schemas.openxmlformats.org/drawingml/2006/main" noGrp="1"/>
          </p:cNvSpPr>
          <p:nvPr/>
        </p:nvSpPr>
        <p:spPr>
          <a:xfrm xmlns:a="http://schemas.openxmlformats.org/drawingml/2006/main">
            <a:off x="609600" y="16668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C"/>
                </a:solidFill>
              </a:defRPr>
            </a:defPPr>
            <a:lvl1pPr>
              <a:defRPr sz="2400" b="1">
                <a:solidFill>
                  <a:srgbClr val="087F8C"/>
                </a:solidFill>
              </a:defRPr>
            </a:lvl1pPr>
            <a:lvl2pPr>
              <a:defRPr sz="2400" b="1">
                <a:solidFill>
                  <a:srgbClr val="087F8C"/>
                </a:solidFill>
              </a:defRPr>
            </a:lvl2pPr>
            <a:lvl3pPr>
              <a:defRPr sz="2400" b="1">
                <a:solidFill>
                  <a:srgbClr val="087F8C"/>
                </a:solidFill>
              </a:defRPr>
            </a:lvl3pPr>
            <a:lvl4pPr>
              <a:defRPr sz="2400" b="1">
                <a:solidFill>
                  <a:srgbClr val="087F8C"/>
                </a:solidFill>
              </a:defRPr>
            </a:lvl4pPr>
            <a:lvl5pPr>
              <a:defRPr sz="2400" b="1">
                <a:solidFill>
                  <a:srgbClr val="087F8C"/>
                </a:solidFill>
              </a:defRPr>
            </a:lvl5pPr>
            <a:lvl6pPr>
              <a:defRPr sz="2400" b="1">
                <a:solidFill>
                  <a:srgbClr val="087F8C"/>
                </a:solidFill>
              </a:defRPr>
            </a:lvl6pPr>
            <a:lvl7pPr>
              <a:defRPr sz="2400" b="1">
                <a:solidFill>
                  <a:srgbClr val="087F8C"/>
                </a:solidFill>
              </a:defRPr>
            </a:lvl7pPr>
            <a:lvl8pPr>
              <a:defRPr sz="2400" b="1">
                <a:solidFill>
                  <a:srgbClr val="087F8C"/>
                </a:solidFill>
              </a:defRPr>
            </a:lvl8pPr>
            <a:lvl9pPr>
              <a:defRPr sz="2400" b="1">
                <a:solidFill>
                  <a:srgbClr val="087F8C"/>
                </a:solidFill>
              </a:defRPr>
            </a:lvl9pPr>
          </a:lstStyle>
          <a:p xmlns:a="http://schemas.openxmlformats.org/drawingml/2006/main">
            <a:pPr>
              <a:defRPr sz="2400" b="1">
                <a:solidFill>
                  <a:srgbClr val="087F8C"/>
                </a:solidFill>
              </a:defRPr>
            </a:pPr>
            <a:r>
              <a:rPr sz="2400" b="1">
                <a:solidFill>
                  <a:srgbClr val="087F8C"/>
                </a:solidFill>
              </a:rPr>
              <a:t>Empty GitHub repository + local project folder</a:t>
            </a:r>
          </a:p>
        </p:txBody>
      </p:sp>
      <p:sp>
        <p:nvSpPr>
          <p:cNvPr id="4" name="">
            <a:extLst xmlns:a="http://schemas.openxmlformats.org/drawingml/2006/main">
              <a:ext uri="{FF2B5EF4-FFF2-40B4-BE49-F238E27FC236}">
                <a16:creationId xmlns:a16="http://schemas.microsoft.com/office/drawing/2014/main" id="{A00066CF-99D3-430C-97E3-FE61B9ED97C0}"/>
              </a:ext>
            </a:extLst>
          </p:cNvPr>
          <p:cNvSpPr>
            <a:spLocks xmlns:a="http://schemas.openxmlformats.org/drawingml/2006/main" noGrp="1"/>
          </p:cNvSpPr>
          <p:nvPr/>
        </p:nvSpPr>
        <p:spPr>
          <a:xfrm xmlns:a="http://schemas.openxmlformats.org/drawingml/2006/main">
            <a:off x="609600" y="2619375"/>
            <a:ext cx="10953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0263B"/>
                </a:solidFill>
              </a:defRPr>
            </a:defPPr>
            <a:lvl1pPr>
              <a:defRPr sz="2025" b="0">
                <a:solidFill>
                  <a:srgbClr val="10263B"/>
                </a:solidFill>
              </a:defRPr>
            </a:lvl1pPr>
            <a:lvl2pPr>
              <a:defRPr sz="2025" b="0">
                <a:solidFill>
                  <a:srgbClr val="10263B"/>
                </a:solidFill>
              </a:defRPr>
            </a:lvl2pPr>
            <a:lvl3pPr>
              <a:defRPr sz="2025" b="0">
                <a:solidFill>
                  <a:srgbClr val="10263B"/>
                </a:solidFill>
              </a:defRPr>
            </a:lvl3pPr>
            <a:lvl4pPr>
              <a:defRPr sz="2025" b="0">
                <a:solidFill>
                  <a:srgbClr val="10263B"/>
                </a:solidFill>
              </a:defRPr>
            </a:lvl4pPr>
            <a:lvl5pPr>
              <a:defRPr sz="2025" b="0">
                <a:solidFill>
                  <a:srgbClr val="10263B"/>
                </a:solidFill>
              </a:defRPr>
            </a:lvl5pPr>
            <a:lvl6pPr>
              <a:defRPr sz="2025" b="0">
                <a:solidFill>
                  <a:srgbClr val="10263B"/>
                </a:solidFill>
              </a:defRPr>
            </a:lvl6pPr>
            <a:lvl7pPr>
              <a:defRPr sz="2025" b="0">
                <a:solidFill>
                  <a:srgbClr val="10263B"/>
                </a:solidFill>
              </a:defRPr>
            </a:lvl7pPr>
            <a:lvl8pPr>
              <a:defRPr sz="2025" b="0">
                <a:solidFill>
                  <a:srgbClr val="10263B"/>
                </a:solidFill>
              </a:defRPr>
            </a:lvl8pPr>
            <a:lvl9pPr>
              <a:defRPr sz="2025" b="0">
                <a:solidFill>
                  <a:srgbClr val="10263B"/>
                </a:solidFill>
              </a:defRPr>
            </a:lvl9pPr>
          </a:lstStyle>
          <a:p xmlns:a="http://schemas.openxmlformats.org/drawingml/2006/main">
            <a:pPr>
              <a:defRPr sz="2025" b="0">
                <a:solidFill>
                  <a:srgbClr val="10263B"/>
                </a:solidFill>
              </a:defRPr>
            </a:pPr>
            <a:r>
              <a:rPr sz="2025" b="0">
                <a:solidFill>
                  <a:srgbClr val="10263B"/>
                </a:solidFill>
              </a:rPr>
              <a:t>git init</a:t>
            </a:r>
          </a:p>
          <a:p xmlns:a="http://schemas.openxmlformats.org/drawingml/2006/main">
            <a:pPr>
              <a:defRPr sz="2025" b="0">
                <a:solidFill>
                  <a:srgbClr val="10263B"/>
                </a:solidFill>
              </a:defRPr>
            </a:pPr>
            <a:r>
              <a:rPr sz="2025" b="0">
                <a:solidFill>
                  <a:srgbClr val="10263B"/>
                </a:solidFill>
              </a:rPr>
              <a:t>git add .</a:t>
            </a:r>
          </a:p>
          <a:p xmlns:a="http://schemas.openxmlformats.org/drawingml/2006/main">
            <a:pPr>
              <a:defRPr sz="2025" b="0">
                <a:solidFill>
                  <a:srgbClr val="10263B"/>
                </a:solidFill>
              </a:defRPr>
            </a:pPr>
            <a:r>
              <a:rPr sz="2025" b="0">
                <a:solidFill>
                  <a:srgbClr val="10263B"/>
                </a:solidFill>
              </a:rPr>
              <a:t>git commit -m "Add Q-learning grid world project"</a:t>
            </a:r>
          </a:p>
          <a:p xmlns:a="http://schemas.openxmlformats.org/drawingml/2006/main">
            <a:pPr>
              <a:defRPr sz="2025" b="0">
                <a:solidFill>
                  <a:srgbClr val="10263B"/>
                </a:solidFill>
              </a:defRPr>
            </a:pPr>
            <a:r>
              <a:rPr sz="2025" b="0">
                <a:solidFill>
                  <a:srgbClr val="10263B"/>
                </a:solidFill>
              </a:rPr>
              <a:t>git branch -M main</a:t>
            </a:r>
          </a:p>
          <a:p xmlns:a="http://schemas.openxmlformats.org/drawingml/2006/main">
            <a:pPr>
              <a:defRPr sz="2025" b="0">
                <a:solidFill>
                  <a:srgbClr val="10263B"/>
                </a:solidFill>
              </a:defRPr>
            </a:pPr>
            <a:r>
              <a:rPr sz="2025" b="0">
                <a:solidFill>
                  <a:srgbClr val="10263B"/>
                </a:solidFill>
              </a:rPr>
              <a:t>git remote add origin YOUR_REPOSITORY_URL</a:t>
            </a:r>
          </a:p>
          <a:p xmlns:a="http://schemas.openxmlformats.org/drawingml/2006/main">
            <a:pPr>
              <a:defRPr sz="2025" b="0">
                <a:solidFill>
                  <a:srgbClr val="10263B"/>
                </a:solidFill>
              </a:defRPr>
            </a:pPr>
            <a:r>
              <a:rPr sz="2025" b="0">
                <a:solidFill>
                  <a:srgbClr val="10263B"/>
                </a:solidFill>
              </a:rPr>
              <a:t>git push -u origin main</a:t>
            </a:r>
          </a:p>
        </p:txBody>
      </p:sp>
    </p:spTree>
    <p:extLst>
      <p:ext uri="{BB962C8B-B14F-4D97-AF65-F5344CB8AC3E}">
        <p14:creationId xmlns:p14="http://schemas.microsoft.com/office/powerpoint/2010/main" val="738970435"/>
      </p:ext>
    </p:extLst>
  </p:cSld>
</p:sld>
</file>

<file path=ppt/slides/slide12.xml><?xml version="1.0" encoding="utf-8"?>
<p:sld xmlns:p="http://schemas.openxmlformats.org/presentationml/2006/main">
  <p:cSld>
    <p:bg>
      <p:bgPr>
        <a:solidFill xmlns:a="http://schemas.openxmlformats.org/drawingml/2006/main">
          <a:srgbClr val="10263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C10136-BD5E-40AC-83A4-4F14898B81E5}"/>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defRPr>
            </a:defPPr>
            <a:lvl1pPr>
              <a:defRPr sz="3300" b="1">
                <a:solidFill>
                  <a:srgbClr val="FFFFFF"/>
                </a:solidFill>
              </a:defRPr>
            </a:lvl1pPr>
            <a:lvl2pPr>
              <a:defRPr sz="3300" b="1">
                <a:solidFill>
                  <a:srgbClr val="FFFFFF"/>
                </a:solidFill>
              </a:defRPr>
            </a:lvl2pPr>
            <a:lvl3pPr>
              <a:defRPr sz="3300" b="1">
                <a:solidFill>
                  <a:srgbClr val="FFFFFF"/>
                </a:solidFill>
              </a:defRPr>
            </a:lvl3pPr>
            <a:lvl4pPr>
              <a:defRPr sz="3300" b="1">
                <a:solidFill>
                  <a:srgbClr val="FFFFFF"/>
                </a:solidFill>
              </a:defRPr>
            </a:lvl4pPr>
            <a:lvl5pPr>
              <a:defRPr sz="3300" b="1">
                <a:solidFill>
                  <a:srgbClr val="FFFFFF"/>
                </a:solidFill>
              </a:defRPr>
            </a:lvl5pPr>
            <a:lvl6pPr>
              <a:defRPr sz="3300" b="1">
                <a:solidFill>
                  <a:srgbClr val="FFFFFF"/>
                </a:solidFill>
              </a:defRPr>
            </a:lvl6pPr>
            <a:lvl7pPr>
              <a:defRPr sz="3300" b="1">
                <a:solidFill>
                  <a:srgbClr val="FFFFFF"/>
                </a:solidFill>
              </a:defRPr>
            </a:lvl7pPr>
            <a:lvl8pPr>
              <a:defRPr sz="3300" b="1">
                <a:solidFill>
                  <a:srgbClr val="FFFFFF"/>
                </a:solidFill>
              </a:defRPr>
            </a:lvl8pPr>
            <a:lvl9pPr>
              <a:defRPr sz="3300" b="1">
                <a:solidFill>
                  <a:srgbClr val="FFFFFF"/>
                </a:solidFill>
              </a:defRPr>
            </a:lvl9pPr>
          </a:lstStyle>
          <a:p xmlns:a="http://schemas.openxmlformats.org/drawingml/2006/main">
            <a:pPr>
              <a:defRPr sz="3300" b="1">
                <a:solidFill>
                  <a:srgbClr val="FFFFFF"/>
                </a:solidFill>
              </a:defRPr>
            </a:pPr>
            <a:r>
              <a:rPr sz="3300" b="1">
                <a:solidFill>
                  <a:srgbClr val="FFFFFF"/>
                </a:solidFill>
              </a:rPr>
              <a:t>Conclusions and future improvements</a:t>
            </a:r>
          </a:p>
        </p:txBody>
      </p:sp>
      <p:sp>
        <p:nvSpPr>
          <p:cNvPr id="2" name="">
            <a:extLst xmlns:a="http://schemas.openxmlformats.org/drawingml/2006/main">
              <a:ext uri="{FF2B5EF4-FFF2-40B4-BE49-F238E27FC236}">
                <a16:creationId xmlns:a16="http://schemas.microsoft.com/office/drawing/2014/main" id="{DD9F1229-2AA4-406B-835B-37D1A0018F75}"/>
              </a:ext>
            </a:extLst>
          </p:cNvPr>
          <p:cNvSpPr>
            <a:spLocks xmlns:a="http://schemas.openxmlformats.org/drawingml/2006/main" noGrp="1"/>
          </p:cNvSpPr>
          <p:nvPr/>
        </p:nvSpPr>
        <p:spPr>
          <a:xfrm xmlns:a="http://schemas.openxmlformats.org/drawingml/2006/main">
            <a:off x="1123950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8C9D7"/>
                </a:solidFill>
              </a:defRPr>
            </a:defPPr>
            <a:lvl1pPr>
              <a:defRPr sz="1350" b="0">
                <a:solidFill>
                  <a:srgbClr val="A8C9D7"/>
                </a:solidFill>
              </a:defRPr>
            </a:lvl1pPr>
            <a:lvl2pPr>
              <a:defRPr sz="1350" b="0">
                <a:solidFill>
                  <a:srgbClr val="A8C9D7"/>
                </a:solidFill>
              </a:defRPr>
            </a:lvl2pPr>
            <a:lvl3pPr>
              <a:defRPr sz="1350" b="0">
                <a:solidFill>
                  <a:srgbClr val="A8C9D7"/>
                </a:solidFill>
              </a:defRPr>
            </a:lvl3pPr>
            <a:lvl4pPr>
              <a:defRPr sz="1350" b="0">
                <a:solidFill>
                  <a:srgbClr val="A8C9D7"/>
                </a:solidFill>
              </a:defRPr>
            </a:lvl4pPr>
            <a:lvl5pPr>
              <a:defRPr sz="1350" b="0">
                <a:solidFill>
                  <a:srgbClr val="A8C9D7"/>
                </a:solidFill>
              </a:defRPr>
            </a:lvl5pPr>
            <a:lvl6pPr>
              <a:defRPr sz="1350" b="0">
                <a:solidFill>
                  <a:srgbClr val="A8C9D7"/>
                </a:solidFill>
              </a:defRPr>
            </a:lvl6pPr>
            <a:lvl7pPr>
              <a:defRPr sz="1350" b="0">
                <a:solidFill>
                  <a:srgbClr val="A8C9D7"/>
                </a:solidFill>
              </a:defRPr>
            </a:lvl7pPr>
            <a:lvl8pPr>
              <a:defRPr sz="1350" b="0">
                <a:solidFill>
                  <a:srgbClr val="A8C9D7"/>
                </a:solidFill>
              </a:defRPr>
            </a:lvl8pPr>
            <a:lvl9pPr>
              <a:defRPr sz="1350" b="0">
                <a:solidFill>
                  <a:srgbClr val="A8C9D7"/>
                </a:solidFill>
              </a:defRPr>
            </a:lvl9pPr>
          </a:lstStyle>
          <a:p xmlns:a="http://schemas.openxmlformats.org/drawingml/2006/main">
            <a:pPr>
              <a:defRPr sz="1350" b="0">
                <a:solidFill>
                  <a:srgbClr val="A8C9D7"/>
                </a:solidFill>
              </a:defRPr>
            </a:pPr>
            <a:r>
              <a:rPr sz="1350" b="0">
                <a:solidFill>
                  <a:srgbClr val="A8C9D7"/>
                </a:solidFill>
              </a:rPr>
              <a:t>12</a:t>
            </a:r>
          </a:p>
        </p:txBody>
      </p:sp>
      <p:sp>
        <p:nvSpPr>
          <p:cNvPr id="3" name="">
            <a:extLst xmlns:a="http://schemas.openxmlformats.org/drawingml/2006/main">
              <a:ext uri="{FF2B5EF4-FFF2-40B4-BE49-F238E27FC236}">
                <a16:creationId xmlns:a16="http://schemas.microsoft.com/office/drawing/2014/main" id="{F788CCCB-CD43-4070-970E-BF10B79211AD}"/>
              </a:ext>
            </a:extLst>
          </p:cNvPr>
          <p:cNvSpPr>
            <a:spLocks xmlns:a="http://schemas.openxmlformats.org/drawingml/2006/main" noGrp="1"/>
          </p:cNvSpPr>
          <p:nvPr/>
        </p:nvSpPr>
        <p:spPr>
          <a:xfrm xmlns:a="http://schemas.openxmlformats.org/drawingml/2006/main">
            <a:off x="609600" y="1809750"/>
            <a:ext cx="1095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defRPr>
            </a:defPPr>
            <a:lvl1pPr>
              <a:defRPr sz="3300" b="1">
                <a:solidFill>
                  <a:srgbClr val="FFFFFF"/>
                </a:solidFill>
              </a:defRPr>
            </a:lvl1pPr>
            <a:lvl2pPr>
              <a:defRPr sz="3300" b="1">
                <a:solidFill>
                  <a:srgbClr val="FFFFFF"/>
                </a:solidFill>
              </a:defRPr>
            </a:lvl2pPr>
            <a:lvl3pPr>
              <a:defRPr sz="3300" b="1">
                <a:solidFill>
                  <a:srgbClr val="FFFFFF"/>
                </a:solidFill>
              </a:defRPr>
            </a:lvl3pPr>
            <a:lvl4pPr>
              <a:defRPr sz="3300" b="1">
                <a:solidFill>
                  <a:srgbClr val="FFFFFF"/>
                </a:solidFill>
              </a:defRPr>
            </a:lvl4pPr>
            <a:lvl5pPr>
              <a:defRPr sz="3300" b="1">
                <a:solidFill>
                  <a:srgbClr val="FFFFFF"/>
                </a:solidFill>
              </a:defRPr>
            </a:lvl5pPr>
            <a:lvl6pPr>
              <a:defRPr sz="3300" b="1">
                <a:solidFill>
                  <a:srgbClr val="FFFFFF"/>
                </a:solidFill>
              </a:defRPr>
            </a:lvl6pPr>
            <a:lvl7pPr>
              <a:defRPr sz="3300" b="1">
                <a:solidFill>
                  <a:srgbClr val="FFFFFF"/>
                </a:solidFill>
              </a:defRPr>
            </a:lvl7pPr>
            <a:lvl8pPr>
              <a:defRPr sz="3300" b="1">
                <a:solidFill>
                  <a:srgbClr val="FFFFFF"/>
                </a:solidFill>
              </a:defRPr>
            </a:lvl8pPr>
            <a:lvl9pPr>
              <a:defRPr sz="3300" b="1">
                <a:solidFill>
                  <a:srgbClr val="FFFFFF"/>
                </a:solidFill>
              </a:defRPr>
            </a:lvl9pPr>
          </a:lstStyle>
          <a:p xmlns:a="http://schemas.openxmlformats.org/drawingml/2006/main">
            <a:pPr>
              <a:defRPr sz="3300" b="1">
                <a:solidFill>
                  <a:srgbClr val="FFFFFF"/>
                </a:solidFill>
              </a:defRPr>
            </a:pPr>
            <a:r>
              <a:rPr sz="3300" b="1">
                <a:solidFill>
                  <a:srgbClr val="FFFFFF"/>
                </a:solidFill>
              </a:rPr>
              <a:t>Q-learning learned an optimal route</a:t>
            </a:r>
          </a:p>
          <a:p xmlns:a="http://schemas.openxmlformats.org/drawingml/2006/main">
            <a:pPr>
              <a:defRPr sz="3300" b="1">
                <a:solidFill>
                  <a:srgbClr val="FFFFFF"/>
                </a:solidFill>
              </a:defRPr>
            </a:pPr>
            <a:r>
              <a:rPr sz="3300" b="1">
                <a:solidFill>
                  <a:srgbClr val="FFFFFF"/>
                </a:solidFill>
              </a:rPr>
              <a:t>on the tested grid</a:t>
            </a:r>
          </a:p>
        </p:txBody>
      </p:sp>
      <p:sp>
        <p:nvSpPr>
          <p:cNvPr id="4" name="">
            <a:extLst xmlns:a="http://schemas.openxmlformats.org/drawingml/2006/main">
              <a:ext uri="{FF2B5EF4-FFF2-40B4-BE49-F238E27FC236}">
                <a16:creationId xmlns:a16="http://schemas.microsoft.com/office/drawing/2014/main" id="{F9AF541E-0961-4481-9492-B4ACE0B9501E}"/>
              </a:ext>
            </a:extLst>
          </p:cNvPr>
          <p:cNvSpPr>
            <a:spLocks xmlns:a="http://schemas.openxmlformats.org/drawingml/2006/main" noGrp="1"/>
          </p:cNvSpPr>
          <p:nvPr/>
        </p:nvSpPr>
        <p:spPr>
          <a:xfrm xmlns:a="http://schemas.openxmlformats.org/drawingml/2006/main">
            <a:off x="609600" y="3857625"/>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A8C9D7"/>
                </a:solidFill>
              </a:defRPr>
            </a:defPPr>
            <a:lvl1pPr>
              <a:defRPr sz="2250" b="0">
                <a:solidFill>
                  <a:srgbClr val="A8C9D7"/>
                </a:solidFill>
              </a:defRPr>
            </a:lvl1pPr>
            <a:lvl2pPr>
              <a:defRPr sz="2250" b="0">
                <a:solidFill>
                  <a:srgbClr val="A8C9D7"/>
                </a:solidFill>
              </a:defRPr>
            </a:lvl2pPr>
            <a:lvl3pPr>
              <a:defRPr sz="2250" b="0">
                <a:solidFill>
                  <a:srgbClr val="A8C9D7"/>
                </a:solidFill>
              </a:defRPr>
            </a:lvl3pPr>
            <a:lvl4pPr>
              <a:defRPr sz="2250" b="0">
                <a:solidFill>
                  <a:srgbClr val="A8C9D7"/>
                </a:solidFill>
              </a:defRPr>
            </a:lvl4pPr>
            <a:lvl5pPr>
              <a:defRPr sz="2250" b="0">
                <a:solidFill>
                  <a:srgbClr val="A8C9D7"/>
                </a:solidFill>
              </a:defRPr>
            </a:lvl5pPr>
            <a:lvl6pPr>
              <a:defRPr sz="2250" b="0">
                <a:solidFill>
                  <a:srgbClr val="A8C9D7"/>
                </a:solidFill>
              </a:defRPr>
            </a:lvl6pPr>
            <a:lvl7pPr>
              <a:defRPr sz="2250" b="0">
                <a:solidFill>
                  <a:srgbClr val="A8C9D7"/>
                </a:solidFill>
              </a:defRPr>
            </a:lvl7pPr>
            <a:lvl8pPr>
              <a:defRPr sz="2250" b="0">
                <a:solidFill>
                  <a:srgbClr val="A8C9D7"/>
                </a:solidFill>
              </a:defRPr>
            </a:lvl8pPr>
            <a:lvl9pPr>
              <a:defRPr sz="2250" b="0">
                <a:solidFill>
                  <a:srgbClr val="A8C9D7"/>
                </a:solidFill>
              </a:defRPr>
            </a:lvl9pPr>
          </a:lstStyle>
          <a:p xmlns:a="http://schemas.openxmlformats.org/drawingml/2006/main">
            <a:pPr>
              <a:defRPr sz="2250" b="0">
                <a:solidFill>
                  <a:srgbClr val="A8C9D7"/>
                </a:solidFill>
              </a:defRPr>
            </a:pPr>
            <a:r>
              <a:rPr sz="2250" b="0">
                <a:solidFill>
                  <a:srgbClr val="A8C9D7"/>
                </a:solidFill>
              </a:rPr>
              <a:t>Current scope: small, static, deterministic maps</a:t>
            </a:r>
          </a:p>
          <a:p xmlns:a="http://schemas.openxmlformats.org/drawingml/2006/main">
            <a:pPr>
              <a:defRPr sz="2250" b="0">
                <a:solidFill>
                  <a:srgbClr val="A8C9D7"/>
                </a:solidFill>
              </a:defRPr>
            </a:pPr>
            <a:r>
              <a:rPr sz="2250" b="0">
                <a:solidFill>
                  <a:srgbClr val="A8C9D7"/>
                </a:solidFill>
              </a:rPr>
              <a:t>Future work: larger maps and stochastic transitions</a:t>
            </a:r>
          </a:p>
        </p:txBody>
      </p:sp>
      <p:sp>
        <p:nvSpPr>
          <p:cNvPr id="5" name="">
            <a:extLst xmlns:a="http://schemas.openxmlformats.org/drawingml/2006/main">
              <a:ext uri="{FF2B5EF4-FFF2-40B4-BE49-F238E27FC236}">
                <a16:creationId xmlns:a16="http://schemas.microsoft.com/office/drawing/2014/main" id="{AFDA7600-AFF5-41CD-9172-7E72A622A1F2}"/>
              </a:ext>
            </a:extLst>
          </p:cNvPr>
          <p:cNvSpPr>
            <a:spLocks xmlns:a="http://schemas.openxmlformats.org/drawingml/2006/main" noGrp="1"/>
          </p:cNvSpPr>
          <p:nvPr/>
        </p:nvSpPr>
        <p:spPr>
          <a:xfrm xmlns:a="http://schemas.openxmlformats.org/drawingml/2006/main">
            <a:off x="609600" y="55816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FFFFF"/>
                </a:solidFill>
              </a:defRPr>
            </a:defPPr>
            <a:lvl1pPr>
              <a:defRPr sz="2400" b="0">
                <a:solidFill>
                  <a:srgbClr val="FFFFFF"/>
                </a:solidFill>
              </a:defRPr>
            </a:lvl1pPr>
            <a:lvl2pPr>
              <a:defRPr sz="2400" b="0">
                <a:solidFill>
                  <a:srgbClr val="FFFFFF"/>
                </a:solidFill>
              </a:defRPr>
            </a:lvl2pPr>
            <a:lvl3pPr>
              <a:defRPr sz="2400" b="0">
                <a:solidFill>
                  <a:srgbClr val="FFFFFF"/>
                </a:solidFill>
              </a:defRPr>
            </a:lvl3pPr>
            <a:lvl4pPr>
              <a:defRPr sz="2400" b="0">
                <a:solidFill>
                  <a:srgbClr val="FFFFFF"/>
                </a:solidFill>
              </a:defRPr>
            </a:lvl4pPr>
            <a:lvl5pPr>
              <a:defRPr sz="2400" b="0">
                <a:solidFill>
                  <a:srgbClr val="FFFFFF"/>
                </a:solidFill>
              </a:defRPr>
            </a:lvl5pPr>
            <a:lvl6pPr>
              <a:defRPr sz="2400" b="0">
                <a:solidFill>
                  <a:srgbClr val="FFFFFF"/>
                </a:solidFill>
              </a:defRPr>
            </a:lvl6pPr>
            <a:lvl7pPr>
              <a:defRPr sz="2400" b="0">
                <a:solidFill>
                  <a:srgbClr val="FFFFFF"/>
                </a:solidFill>
              </a:defRPr>
            </a:lvl7pPr>
            <a:lvl8pPr>
              <a:defRPr sz="2400" b="0">
                <a:solidFill>
                  <a:srgbClr val="FFFFFF"/>
                </a:solidFill>
              </a:defRPr>
            </a:lvl8pPr>
            <a:lvl9pPr>
              <a:defRPr sz="2400" b="0">
                <a:solidFill>
                  <a:srgbClr val="FFFFFF"/>
                </a:solidFill>
              </a:defRPr>
            </a:lvl9pPr>
          </a:lstStyle>
          <a:p xmlns:a="http://schemas.openxmlformats.org/drawingml/2006/main">
            <a:pPr>
              <a:defRPr sz="2400" b="0">
                <a:solidFill>
                  <a:srgbClr val="FFFFFF"/>
                </a:solidFill>
              </a:defRPr>
            </a:pPr>
            <a:r>
              <a:rPr sz="2400" b="0">
                <a:solidFill>
                  <a:srgbClr val="FFFFFF"/>
                </a:solidFill>
              </a:rPr>
              <a:t>Questions</a:t>
            </a:r>
          </a:p>
        </p:txBody>
      </p:sp>
    </p:spTree>
    <p:extLst>
      <p:ext uri="{BB962C8B-B14F-4D97-AF65-F5344CB8AC3E}">
        <p14:creationId xmlns:p14="http://schemas.microsoft.com/office/powerpoint/2010/main" val="6103664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2026-10-28T16:00:54.1570000Z</dcterms:created>
  <dcterms:modified xsi:type="dcterms:W3CDTF">2026-10-28T16:00:54.1570000Z</dcterms:modified>
</coreProperties>
</file>